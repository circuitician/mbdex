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7" r:id="rId2"/>
    <p:sldId id="256" r:id="rId3"/>
    <p:sldId id="257" r:id="rId4"/>
    <p:sldId id="258" r:id="rId5"/>
    <p:sldId id="259" r:id="rId6"/>
    <p:sldId id="260" r:id="rId7"/>
    <p:sldId id="261" r:id="rId8"/>
    <p:sldId id="273" r:id="rId9"/>
    <p:sldId id="274" r:id="rId10"/>
    <p:sldId id="275" r:id="rId11"/>
    <p:sldId id="276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3EB"/>
    <a:srgbClr val="D97706"/>
    <a:srgbClr val="EA580C"/>
    <a:srgbClr val="7C3AED"/>
    <a:srgbClr val="0D9488"/>
    <a:srgbClr val="EDE9FE"/>
    <a:srgbClr val="059669"/>
    <a:srgbClr val="E4A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2136" y="14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7BEBFA-C4B9-4CB7-8B66-E0BBD04775AE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C7332-B3C1-404D-A632-21F427BA00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021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80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50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05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4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86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10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7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3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51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2269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61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60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4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172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3602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9790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169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760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0123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12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626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AD1B2-3900-4029-BBE8-1529C11500C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C63E-F0B0-49B8-BF50-6FC5AFB01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051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AD1B2-3900-4029-BBE8-1529C11500C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C63E-F0B0-49B8-BF50-6FC5AFB01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742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AD1B2-3900-4029-BBE8-1529C11500C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C63E-F0B0-49B8-BF50-6FC5AFB01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484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AD1B2-3900-4029-BBE8-1529C11500C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C63E-F0B0-49B8-BF50-6FC5AFB01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897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AD1B2-3900-4029-BBE8-1529C11500C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C63E-F0B0-49B8-BF50-6FC5AFB01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74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AD1B2-3900-4029-BBE8-1529C11500C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C63E-F0B0-49B8-BF50-6FC5AFB01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296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AD1B2-3900-4029-BBE8-1529C11500C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C63E-F0B0-49B8-BF50-6FC5AFB01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298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AD1B2-3900-4029-BBE8-1529C11500C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C63E-F0B0-49B8-BF50-6FC5AFB01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333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AD1B2-3900-4029-BBE8-1529C11500C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C63E-F0B0-49B8-BF50-6FC5AFB01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584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AD1B2-3900-4029-BBE8-1529C11500C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C63E-F0B0-49B8-BF50-6FC5AFB01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7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AD1B2-3900-4029-BBE8-1529C11500C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EC63E-F0B0-49B8-BF50-6FC5AFB01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460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6946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AD1B2-3900-4029-BBE8-1529C11500C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EC63E-F0B0-49B8-BF50-6FC5AFB01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793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74080"/>
            <a:ext cx="12192000" cy="883920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79034" y="4238413"/>
            <a:ext cx="9033933" cy="568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spc="-200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ESP32 </a:t>
            </a:r>
            <a:r>
              <a:rPr lang="en-US" sz="3733" b="1" spc="-200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Embedded </a:t>
            </a:r>
            <a:r>
              <a:rPr lang="en-US" sz="3733" b="1" spc="-200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Systems </a:t>
            </a:r>
            <a:r>
              <a:rPr lang="en-US" sz="3733" b="1" spc="-200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Workshop</a:t>
            </a:r>
            <a:endParaRPr lang="en-US" sz="3733" spc="-200" dirty="0"/>
          </a:p>
        </p:txBody>
      </p:sp>
      <p:sp>
        <p:nvSpPr>
          <p:cNvPr id="13" name="Text 11"/>
          <p:cNvSpPr/>
          <p:nvPr/>
        </p:nvSpPr>
        <p:spPr>
          <a:xfrm>
            <a:off x="609600" y="3596640"/>
            <a:ext cx="109728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4267" dirty="0"/>
          </a:p>
        </p:txBody>
      </p:sp>
      <p:sp>
        <p:nvSpPr>
          <p:cNvPr id="14" name="Text 12"/>
          <p:cNvSpPr/>
          <p:nvPr/>
        </p:nvSpPr>
        <p:spPr>
          <a:xfrm>
            <a:off x="609600" y="4730496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i="1" dirty="0">
                <a:solidFill>
                  <a:srgbClr val="12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Registers to IoT  —  </a:t>
            </a:r>
            <a:r>
              <a:rPr lang="en-US" sz="1733" b="1" i="1" dirty="0">
                <a:solidFill>
                  <a:srgbClr val="12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 </a:t>
            </a:r>
            <a:r>
              <a:rPr lang="en-US" sz="1733" b="1" i="1" dirty="0">
                <a:solidFill>
                  <a:srgbClr val="12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 Deploy.</a:t>
            </a:r>
            <a:endParaRPr lang="en-US" sz="1733" b="1" dirty="0">
              <a:solidFill>
                <a:srgbClr val="12BFFF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9600" y="6010656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  •  10 Hours  •  </a:t>
            </a:r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</a:t>
            </a:r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 •  PlatformIO + ESP-IDF  •  11:00 AM – 5:00 PM</a:t>
            </a:r>
            <a:endParaRPr lang="en-US" sz="1467" dirty="0"/>
          </a:p>
        </p:txBody>
      </p:sp>
      <p:sp>
        <p:nvSpPr>
          <p:cNvPr id="18" name="Rectangle 17"/>
          <p:cNvSpPr/>
          <p:nvPr/>
        </p:nvSpPr>
        <p:spPr>
          <a:xfrm>
            <a:off x="0" y="-3725"/>
            <a:ext cx="3699933" cy="13448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21" name="Right Triangle 20"/>
          <p:cNvSpPr/>
          <p:nvPr/>
        </p:nvSpPr>
        <p:spPr>
          <a:xfrm flipV="1">
            <a:off x="3699933" y="0"/>
            <a:ext cx="711200" cy="134112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grpSp>
        <p:nvGrpSpPr>
          <p:cNvPr id="20" name="Group 19"/>
          <p:cNvGrpSpPr/>
          <p:nvPr/>
        </p:nvGrpSpPr>
        <p:grpSpPr>
          <a:xfrm>
            <a:off x="289703" y="143595"/>
            <a:ext cx="3654056" cy="932011"/>
            <a:chOff x="77577" y="107696"/>
            <a:chExt cx="2740542" cy="699008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77" y="107696"/>
              <a:ext cx="2447642" cy="699008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>
            <a:xfrm>
              <a:off x="2419452" y="264265"/>
              <a:ext cx="398667" cy="246173"/>
            </a:xfrm>
            <a:prstGeom prst="rect">
              <a:avLst/>
            </a:prstGeom>
            <a:noFill/>
          </p:spPr>
          <p:txBody>
            <a:bodyPr wrap="none" lIns="121920" tIns="60960" rIns="121920" bIns="60960">
              <a:spAutoFit/>
            </a:bodyPr>
            <a:lstStyle/>
            <a:p>
              <a:pPr algn="ctr"/>
              <a:r>
                <a:rPr lang="en-US" sz="1333" dirty="0">
                  <a:ln w="0">
                    <a:noFill/>
                  </a:ln>
                  <a:solidFill>
                    <a:srgbClr val="42BBEC"/>
                  </a:solidFill>
                  <a:latin typeface="Arial Black" panose="020B0A04020102020204" pitchFamily="34" charset="0"/>
                </a:rPr>
                <a:t>TM</a:t>
              </a:r>
              <a:endParaRPr lang="en-US" sz="1333" dirty="0">
                <a:ln w="0">
                  <a:noFill/>
                </a:ln>
                <a:solidFill>
                  <a:srgbClr val="42BBEC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2" name="Shape 2"/>
          <p:cNvSpPr/>
          <p:nvPr/>
        </p:nvSpPr>
        <p:spPr>
          <a:xfrm>
            <a:off x="-16933" y="1341120"/>
            <a:ext cx="3869265" cy="0"/>
          </a:xfrm>
          <a:prstGeom prst="lin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12BFFF"/>
            </a:solidFill>
            <a:prstDash val="solid"/>
          </a:ln>
        </p:spPr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267" y="1353085"/>
            <a:ext cx="4453467" cy="2968979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11425767" y="-37592"/>
            <a:ext cx="770467" cy="145152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11654955" y="121976"/>
            <a:ext cx="770467" cy="145282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82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0" y="-365760"/>
            <a:ext cx="707136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37332" b="1" dirty="0">
                <a:solidFill>
                  <a:srgbClr val="12BFFF">
                    <a:alpha val="12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7332" dirty="0"/>
          </a:p>
        </p:txBody>
      </p:sp>
      <p:sp>
        <p:nvSpPr>
          <p:cNvPr id="5" name="Text 3"/>
          <p:cNvSpPr/>
          <p:nvPr/>
        </p:nvSpPr>
        <p:spPr>
          <a:xfrm>
            <a:off x="463296" y="548640"/>
            <a:ext cx="3657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</a:t>
            </a:r>
            <a:endParaRPr lang="en-US" sz="2933" dirty="0"/>
          </a:p>
        </p:txBody>
      </p:sp>
      <p:sp>
        <p:nvSpPr>
          <p:cNvPr id="6" name="Text 4"/>
          <p:cNvSpPr/>
          <p:nvPr/>
        </p:nvSpPr>
        <p:spPr>
          <a:xfrm>
            <a:off x="463296" y="1158240"/>
            <a:ext cx="10972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67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Connectivity, IoT</a:t>
            </a:r>
            <a:endParaRPr lang="en-US" sz="6667" dirty="0"/>
          </a:p>
        </p:txBody>
      </p:sp>
      <p:sp>
        <p:nvSpPr>
          <p:cNvPr id="7" name="Text 5"/>
          <p:cNvSpPr/>
          <p:nvPr/>
        </p:nvSpPr>
        <p:spPr>
          <a:xfrm>
            <a:off x="463296" y="2316480"/>
            <a:ext cx="10972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67" b="1" dirty="0">
                <a:solidFill>
                  <a:srgbClr val="12B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The Challenge</a:t>
            </a:r>
            <a:endParaRPr lang="en-US" sz="6667" dirty="0"/>
          </a:p>
        </p:txBody>
      </p:sp>
      <p:sp>
        <p:nvSpPr>
          <p:cNvPr id="8" name="Text 6"/>
          <p:cNvSpPr/>
          <p:nvPr/>
        </p:nvSpPr>
        <p:spPr>
          <a:xfrm>
            <a:off x="463296" y="3657600"/>
            <a:ext cx="1097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</a:t>
            </a:r>
            <a:r>
              <a:rPr lang="en-US" sz="2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 •  Deep Sleep  •  IoT Web Server  •  Team Algorithm Sprint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3296" y="4328160"/>
            <a:ext cx="2560320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2BFFF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296" y="4328160"/>
            <a:ext cx="2560320" cy="73152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296" y="4425696"/>
            <a:ext cx="256032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12B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3296" y="5218176"/>
            <a:ext cx="2560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3267456" y="4328160"/>
            <a:ext cx="2560320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2BFFF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7456" y="4328160"/>
            <a:ext cx="2560320" cy="73152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7456" y="4425696"/>
            <a:ext cx="256032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12B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 min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267456" y="5218176"/>
            <a:ext cx="2560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6071616" y="4328160"/>
            <a:ext cx="2560320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2BFFF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4328160"/>
            <a:ext cx="2560320" cy="73152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71616" y="4425696"/>
            <a:ext cx="256032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12B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071616" y="5218176"/>
            <a:ext cx="2560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1467" dirty="0"/>
          </a:p>
        </p:txBody>
      </p:sp>
      <p:sp>
        <p:nvSpPr>
          <p:cNvPr id="21" name="Shape 19"/>
          <p:cNvSpPr/>
          <p:nvPr/>
        </p:nvSpPr>
        <p:spPr>
          <a:xfrm>
            <a:off x="8875776" y="4328160"/>
            <a:ext cx="2560320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2BFFF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875776" y="4328160"/>
            <a:ext cx="2560320" cy="73152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75776" y="4425696"/>
            <a:ext cx="256032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12B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1st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8875776" y="5218176"/>
            <a:ext cx="2560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Wins</a:t>
            </a:r>
            <a:endParaRPr lang="en-US" sz="1467" dirty="0"/>
          </a:p>
        </p:txBody>
      </p:sp>
    </p:spTree>
    <p:extLst>
      <p:ext uri="{BB962C8B-B14F-4D97-AF65-F5344CB8AC3E}">
        <p14:creationId xmlns:p14="http://schemas.microsoft.com/office/powerpoint/2010/main" val="1856565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63296" y="219456"/>
            <a:ext cx="11265408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2B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 — Schedule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63296" y="804672"/>
            <a:ext cx="1126540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&amp; IoT  •  11:00 AM – 5:00 PM</a:t>
            </a:r>
            <a:endParaRPr lang="en-US" sz="1600" dirty="0"/>
          </a:p>
        </p:txBody>
      </p:sp>
      <p:grpSp>
        <p:nvGrpSpPr>
          <p:cNvPr id="44" name="Group 43"/>
          <p:cNvGrpSpPr/>
          <p:nvPr/>
        </p:nvGrpSpPr>
        <p:grpSpPr>
          <a:xfrm>
            <a:off x="365760" y="1328928"/>
            <a:ext cx="11460480" cy="288000"/>
            <a:chOff x="365760" y="1328928"/>
            <a:chExt cx="11460480" cy="288000"/>
          </a:xfrm>
        </p:grpSpPr>
        <p:sp>
          <p:nvSpPr>
            <p:cNvPr id="5" name="Shape 3"/>
            <p:cNvSpPr/>
            <p:nvPr/>
          </p:nvSpPr>
          <p:spPr>
            <a:xfrm>
              <a:off x="365760" y="1328928"/>
              <a:ext cx="11460480" cy="28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365760" y="1328928"/>
              <a:ext cx="73152" cy="288000"/>
            </a:xfrm>
            <a:prstGeom prst="rect">
              <a:avLst/>
            </a:prstGeom>
            <a:solidFill>
              <a:srgbClr val="12BFFF"/>
            </a:solidFill>
            <a:ln w="12700">
              <a:solidFill>
                <a:srgbClr val="12BFFF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585216" y="1328928"/>
              <a:ext cx="201168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b="1" dirty="0">
                  <a:solidFill>
                    <a:srgbClr val="0090C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11:00 – 11:15</a:t>
              </a:r>
              <a:endParaRPr lang="en-US" sz="1267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779776" y="1328928"/>
              <a:ext cx="445008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 1 Recap &amp; Warm-Up</a:t>
              </a:r>
              <a:endParaRPr lang="en-US" sz="1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315200" y="1328928"/>
              <a:ext cx="438912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millis() warm-up question, quiz answers</a:t>
              </a:r>
              <a:endParaRPr lang="en-US" sz="1267" dirty="0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365760" y="1850475"/>
            <a:ext cx="11460480" cy="288000"/>
            <a:chOff x="365760" y="1999488"/>
            <a:chExt cx="11460480" cy="288000"/>
          </a:xfrm>
        </p:grpSpPr>
        <p:sp>
          <p:nvSpPr>
            <p:cNvPr id="10" name="Shape 8"/>
            <p:cNvSpPr/>
            <p:nvPr/>
          </p:nvSpPr>
          <p:spPr>
            <a:xfrm>
              <a:off x="365760" y="1999488"/>
              <a:ext cx="11460480" cy="28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11" name="Shape 9"/>
            <p:cNvSpPr/>
            <p:nvPr/>
          </p:nvSpPr>
          <p:spPr>
            <a:xfrm>
              <a:off x="365760" y="1999488"/>
              <a:ext cx="73152" cy="288000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585216" y="1999488"/>
              <a:ext cx="201168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b="1" dirty="0">
                  <a:solidFill>
                    <a:srgbClr val="0090C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11:15 – 12:00</a:t>
              </a:r>
              <a:endParaRPr lang="en-US" sz="1267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779776" y="1999488"/>
              <a:ext cx="445008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Module </a:t>
              </a:r>
              <a:r>
                <a:rPr lang="en-US" sz="1400" b="1" dirty="0" smtClean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 </a:t>
              </a:r>
              <a:r>
                <a:rPr lang="en-US" sz="14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— Advanced Peripherals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7315200" y="1999488"/>
              <a:ext cx="438912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millis() non-blocking, Hall sensor, Touch pins</a:t>
              </a:r>
              <a:endParaRPr lang="en-US" sz="1267" dirty="0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365760" y="2372022"/>
            <a:ext cx="11460480" cy="288000"/>
            <a:chOff x="365760" y="2670048"/>
            <a:chExt cx="11460480" cy="288000"/>
          </a:xfrm>
        </p:grpSpPr>
        <p:sp>
          <p:nvSpPr>
            <p:cNvPr id="15" name="Shape 13"/>
            <p:cNvSpPr/>
            <p:nvPr/>
          </p:nvSpPr>
          <p:spPr>
            <a:xfrm>
              <a:off x="365760" y="2670048"/>
              <a:ext cx="11460480" cy="28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16" name="Shape 14"/>
            <p:cNvSpPr/>
            <p:nvPr/>
          </p:nvSpPr>
          <p:spPr>
            <a:xfrm>
              <a:off x="365760" y="2670048"/>
              <a:ext cx="73152" cy="288000"/>
            </a:xfrm>
            <a:prstGeom prst="rect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585216" y="2670048"/>
              <a:ext cx="201168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b="1" dirty="0">
                  <a:solidFill>
                    <a:srgbClr val="0090C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12:00 – </a:t>
              </a:r>
              <a:r>
                <a:rPr lang="en-US" sz="1267" b="1" dirty="0" smtClean="0">
                  <a:solidFill>
                    <a:srgbClr val="0090C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12:30</a:t>
              </a:r>
              <a:endParaRPr lang="en-US" sz="1267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779776" y="2670048"/>
              <a:ext cx="445008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Module </a:t>
              </a:r>
              <a:r>
                <a:rPr lang="en-US" sz="1400" b="1" dirty="0" smtClean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 </a:t>
              </a:r>
              <a:r>
                <a:rPr lang="en-US" sz="14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— Power Management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7315200" y="2670048"/>
              <a:ext cx="438912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Deep Sleep, timer wakeup, GPIO wakeup, RTC memory</a:t>
              </a:r>
              <a:endParaRPr lang="en-US" sz="1267" dirty="0"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365760" y="3936663"/>
            <a:ext cx="11460480" cy="288000"/>
            <a:chOff x="365760" y="4011168"/>
            <a:chExt cx="11460480" cy="288000"/>
          </a:xfrm>
        </p:grpSpPr>
        <p:sp>
          <p:nvSpPr>
            <p:cNvPr id="24" name="Shape 22"/>
            <p:cNvSpPr/>
            <p:nvPr/>
          </p:nvSpPr>
          <p:spPr>
            <a:xfrm>
              <a:off x="365760" y="4011168"/>
              <a:ext cx="11460480" cy="28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25" name="Shape 23"/>
            <p:cNvSpPr/>
            <p:nvPr/>
          </p:nvSpPr>
          <p:spPr>
            <a:xfrm>
              <a:off x="365760" y="4011168"/>
              <a:ext cx="73152" cy="28800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85216" y="4011168"/>
              <a:ext cx="201168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b="1" dirty="0">
                  <a:solidFill>
                    <a:srgbClr val="0090C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13:30 – 14:45</a:t>
              </a:r>
              <a:endParaRPr lang="en-US" sz="1267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2779776" y="4011168"/>
              <a:ext cx="445008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Module 9 — IoT &amp; Web Server</a:t>
              </a:r>
              <a:endParaRPr lang="en-US" sz="1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7315200" y="4011168"/>
              <a:ext cx="438912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Wi-Fi, HTTP, live dashboard, remote control</a:t>
              </a:r>
              <a:endParaRPr lang="en-US" sz="1267" dirty="0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365760" y="4979757"/>
            <a:ext cx="11460480" cy="288000"/>
            <a:chOff x="365760" y="4681728"/>
            <a:chExt cx="11460480" cy="288000"/>
          </a:xfrm>
        </p:grpSpPr>
        <p:sp>
          <p:nvSpPr>
            <p:cNvPr id="29" name="Shape 27"/>
            <p:cNvSpPr/>
            <p:nvPr/>
          </p:nvSpPr>
          <p:spPr>
            <a:xfrm>
              <a:off x="365760" y="4681728"/>
              <a:ext cx="11460480" cy="28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30" name="Shape 28"/>
            <p:cNvSpPr/>
            <p:nvPr/>
          </p:nvSpPr>
          <p:spPr>
            <a:xfrm>
              <a:off x="365760" y="4681728"/>
              <a:ext cx="73152" cy="288000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585216" y="4681728"/>
              <a:ext cx="201168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b="1" dirty="0">
                  <a:solidFill>
                    <a:srgbClr val="0090C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14:45 – 15:00</a:t>
              </a:r>
              <a:endParaRPr lang="en-US" sz="1267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2779776" y="4681728"/>
              <a:ext cx="445008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Challenge Briefing &amp; Rules</a:t>
              </a:r>
              <a:endParaRPr lang="en-US" sz="14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7315200" y="4681728"/>
              <a:ext cx="438912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Problem statements revealed at 15:00 sharp</a:t>
              </a:r>
              <a:endParaRPr lang="en-US" sz="1267" dirty="0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365760" y="5501304"/>
            <a:ext cx="11460480" cy="288000"/>
            <a:chOff x="365760" y="5352288"/>
            <a:chExt cx="11460480" cy="288000"/>
          </a:xfrm>
        </p:grpSpPr>
        <p:sp>
          <p:nvSpPr>
            <p:cNvPr id="34" name="Shape 32"/>
            <p:cNvSpPr/>
            <p:nvPr/>
          </p:nvSpPr>
          <p:spPr>
            <a:xfrm>
              <a:off x="365760" y="5352288"/>
              <a:ext cx="11460480" cy="288000"/>
            </a:xfrm>
            <a:prstGeom prst="rect">
              <a:avLst/>
            </a:prstGeom>
            <a:solidFill>
              <a:srgbClr val="E8FFF5"/>
            </a:solidFill>
            <a:ln w="19050">
              <a:solidFill>
                <a:srgbClr val="059669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35" name="Shape 33"/>
            <p:cNvSpPr/>
            <p:nvPr/>
          </p:nvSpPr>
          <p:spPr>
            <a:xfrm>
              <a:off x="365760" y="5352288"/>
              <a:ext cx="73152" cy="288000"/>
            </a:xfrm>
            <a:prstGeom prst="rect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585216" y="5352288"/>
              <a:ext cx="201168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b="1" dirty="0">
                  <a:solidFill>
                    <a:srgbClr val="0090C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15:00 – </a:t>
              </a:r>
              <a:r>
                <a:rPr lang="en-US" sz="1267" b="1" dirty="0" smtClean="0">
                  <a:solidFill>
                    <a:srgbClr val="0090C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16:30</a:t>
              </a:r>
              <a:endParaRPr lang="en-US" sz="1267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2779776" y="5352288"/>
              <a:ext cx="445008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🏆 Team Challenge Sprint</a:t>
              </a:r>
              <a:endParaRPr lang="en-US" sz="14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315200" y="5352288"/>
              <a:ext cx="438912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 3 challenges — first to complete all 3 wins</a:t>
              </a:r>
              <a:endParaRPr lang="en-US" sz="1267" dirty="0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365760" y="6022848"/>
            <a:ext cx="11460480" cy="288000"/>
            <a:chOff x="365760" y="6022848"/>
            <a:chExt cx="11460480" cy="288000"/>
          </a:xfrm>
        </p:grpSpPr>
        <p:sp>
          <p:nvSpPr>
            <p:cNvPr id="39" name="Shape 37"/>
            <p:cNvSpPr/>
            <p:nvPr/>
          </p:nvSpPr>
          <p:spPr>
            <a:xfrm>
              <a:off x="365760" y="6022848"/>
              <a:ext cx="11460480" cy="28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40" name="Shape 38"/>
            <p:cNvSpPr/>
            <p:nvPr/>
          </p:nvSpPr>
          <p:spPr>
            <a:xfrm>
              <a:off x="365760" y="6022848"/>
              <a:ext cx="73152" cy="288000"/>
            </a:xfrm>
            <a:prstGeom prst="rect">
              <a:avLst/>
            </a:prstGeom>
            <a:solidFill>
              <a:srgbClr val="12BFFF"/>
            </a:solidFill>
            <a:ln w="12700">
              <a:solidFill>
                <a:srgbClr val="12BFFF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585216" y="6022848"/>
              <a:ext cx="201168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b="1" dirty="0" smtClean="0">
                  <a:solidFill>
                    <a:srgbClr val="0090C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16:30 </a:t>
              </a:r>
              <a:r>
                <a:rPr lang="en-US" sz="1267" b="1" dirty="0">
                  <a:solidFill>
                    <a:srgbClr val="0090C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– 17:00</a:t>
              </a:r>
              <a:endParaRPr lang="en-US" sz="1267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2779776" y="6022848"/>
              <a:ext cx="445008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Results, Prizes &amp; Closing</a:t>
              </a:r>
              <a:endParaRPr lang="en-US" sz="14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7315200" y="6022848"/>
              <a:ext cx="438912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Trophy ceremony, what's next, resource pack</a:t>
              </a:r>
              <a:endParaRPr lang="en-US" sz="1267" dirty="0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365760" y="2893569"/>
            <a:ext cx="11460480" cy="288000"/>
            <a:chOff x="365760" y="2670048"/>
            <a:chExt cx="11460480" cy="288000"/>
          </a:xfrm>
        </p:grpSpPr>
        <p:sp>
          <p:nvSpPr>
            <p:cNvPr id="53" name="Shape 13"/>
            <p:cNvSpPr/>
            <p:nvPr/>
          </p:nvSpPr>
          <p:spPr>
            <a:xfrm>
              <a:off x="365760" y="2670048"/>
              <a:ext cx="11460480" cy="28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54" name="Shape 14"/>
            <p:cNvSpPr/>
            <p:nvPr/>
          </p:nvSpPr>
          <p:spPr>
            <a:xfrm>
              <a:off x="365760" y="2670048"/>
              <a:ext cx="73152" cy="288000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55" name="Text 15"/>
            <p:cNvSpPr/>
            <p:nvPr/>
          </p:nvSpPr>
          <p:spPr>
            <a:xfrm>
              <a:off x="585216" y="2670048"/>
              <a:ext cx="201168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b="1" dirty="0" smtClean="0">
                  <a:solidFill>
                    <a:srgbClr val="0090C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12:30 </a:t>
              </a:r>
              <a:r>
                <a:rPr lang="en-US" sz="1267" b="1" dirty="0">
                  <a:solidFill>
                    <a:srgbClr val="0090C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– </a:t>
              </a:r>
              <a:r>
                <a:rPr lang="en-US" sz="1267" b="1" dirty="0" smtClean="0">
                  <a:solidFill>
                    <a:srgbClr val="0090C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13:00</a:t>
              </a:r>
              <a:endParaRPr lang="en-US" sz="1267" dirty="0"/>
            </a:p>
          </p:txBody>
        </p:sp>
        <p:sp>
          <p:nvSpPr>
            <p:cNvPr id="56" name="Text 16"/>
            <p:cNvSpPr/>
            <p:nvPr/>
          </p:nvSpPr>
          <p:spPr>
            <a:xfrm>
              <a:off x="2779776" y="2670048"/>
              <a:ext cx="445008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Module </a:t>
              </a:r>
              <a:r>
                <a:rPr lang="en-US" sz="1400" b="1" dirty="0" smtClean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11 </a:t>
              </a:r>
              <a:r>
                <a:rPr lang="en-US" sz="14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— </a:t>
              </a:r>
              <a:r>
                <a:rPr lang="en-US" sz="1400" b="1" dirty="0" smtClean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RTC</a:t>
              </a:r>
              <a:endParaRPr lang="en-US" sz="1400" dirty="0"/>
            </a:p>
          </p:txBody>
        </p:sp>
        <p:sp>
          <p:nvSpPr>
            <p:cNvPr id="57" name="Text 17"/>
            <p:cNvSpPr/>
            <p:nvPr/>
          </p:nvSpPr>
          <p:spPr>
            <a:xfrm>
              <a:off x="7315200" y="2670048"/>
              <a:ext cx="438912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i="1" dirty="0" smtClean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Internal Real Time Clock</a:t>
              </a:r>
              <a:endParaRPr lang="en-US" sz="1267" dirty="0"/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365760" y="3415116"/>
            <a:ext cx="11460480" cy="288000"/>
            <a:chOff x="365760" y="2670048"/>
            <a:chExt cx="11460480" cy="288000"/>
          </a:xfrm>
        </p:grpSpPr>
        <p:sp>
          <p:nvSpPr>
            <p:cNvPr id="59" name="Shape 13"/>
            <p:cNvSpPr/>
            <p:nvPr/>
          </p:nvSpPr>
          <p:spPr>
            <a:xfrm>
              <a:off x="365760" y="2670048"/>
              <a:ext cx="11460480" cy="28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60" name="Shape 14"/>
            <p:cNvSpPr/>
            <p:nvPr/>
          </p:nvSpPr>
          <p:spPr>
            <a:xfrm>
              <a:off x="365760" y="2670048"/>
              <a:ext cx="73152" cy="288000"/>
            </a:xfrm>
            <a:prstGeom prst="rect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</p:sp>
        <p:sp>
          <p:nvSpPr>
            <p:cNvPr id="61" name="Text 15"/>
            <p:cNvSpPr/>
            <p:nvPr/>
          </p:nvSpPr>
          <p:spPr>
            <a:xfrm>
              <a:off x="585216" y="2670048"/>
              <a:ext cx="201168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b="1" dirty="0" smtClean="0">
                  <a:solidFill>
                    <a:srgbClr val="0090C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13:00 </a:t>
              </a:r>
              <a:r>
                <a:rPr lang="en-US" sz="1267" b="1" dirty="0">
                  <a:solidFill>
                    <a:srgbClr val="0090C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– </a:t>
              </a:r>
              <a:r>
                <a:rPr lang="en-US" sz="1267" b="1" dirty="0" smtClean="0">
                  <a:solidFill>
                    <a:srgbClr val="0090C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13:30</a:t>
              </a:r>
              <a:endParaRPr lang="en-US" sz="1267" dirty="0"/>
            </a:p>
          </p:txBody>
        </p:sp>
        <p:sp>
          <p:nvSpPr>
            <p:cNvPr id="62" name="Text 16"/>
            <p:cNvSpPr/>
            <p:nvPr/>
          </p:nvSpPr>
          <p:spPr>
            <a:xfrm>
              <a:off x="2779776" y="2670048"/>
              <a:ext cx="445008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 smtClean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Module 12 — SPIFFS</a:t>
              </a:r>
              <a:endParaRPr lang="en-US" sz="1400" dirty="0"/>
            </a:p>
          </p:txBody>
        </p:sp>
        <p:sp>
          <p:nvSpPr>
            <p:cNvPr id="63" name="Text 17"/>
            <p:cNvSpPr/>
            <p:nvPr/>
          </p:nvSpPr>
          <p:spPr>
            <a:xfrm>
              <a:off x="7315200" y="2670048"/>
              <a:ext cx="4389120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i="1" dirty="0" smtClean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Internal File system inside flash memory</a:t>
              </a:r>
              <a:endParaRPr lang="en-US" sz="1267" dirty="0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365760" y="4458210"/>
            <a:ext cx="11460480" cy="288000"/>
            <a:chOff x="365760" y="4558783"/>
            <a:chExt cx="11460480" cy="288000"/>
          </a:xfrm>
        </p:grpSpPr>
        <p:grpSp>
          <p:nvGrpSpPr>
            <p:cNvPr id="47" name="Group 46"/>
            <p:cNvGrpSpPr/>
            <p:nvPr/>
          </p:nvGrpSpPr>
          <p:grpSpPr>
            <a:xfrm>
              <a:off x="365760" y="4558783"/>
              <a:ext cx="11460480" cy="288000"/>
              <a:chOff x="365760" y="3340608"/>
              <a:chExt cx="11460480" cy="288000"/>
            </a:xfrm>
          </p:grpSpPr>
          <p:sp>
            <p:nvSpPr>
              <p:cNvPr id="20" name="Shape 18"/>
              <p:cNvSpPr/>
              <p:nvPr/>
            </p:nvSpPr>
            <p:spPr>
              <a:xfrm>
                <a:off x="365760" y="3340608"/>
                <a:ext cx="11460480" cy="288000"/>
              </a:xfrm>
              <a:prstGeom prst="rect">
                <a:avLst/>
              </a:prstGeom>
              <a:solidFill>
                <a:srgbClr val="F8FAFC"/>
              </a:solidFill>
              <a:ln w="12700">
                <a:solidFill>
                  <a:srgbClr val="CBD5E1"/>
                </a:solidFill>
                <a:prstDash val="solid"/>
              </a:ln>
              <a:effectLst>
                <a:outerShdw blurRad="101600" dist="25400" dir="8100000" algn="bl" rotWithShape="0">
                  <a:srgbClr val="CBD5E1">
                    <a:alpha val="25000"/>
                  </a:srgbClr>
                </a:outerShdw>
              </a:effectLst>
            </p:spPr>
          </p:sp>
          <p:sp>
            <p:nvSpPr>
              <p:cNvPr id="21" name="Shape 19"/>
              <p:cNvSpPr/>
              <p:nvPr/>
            </p:nvSpPr>
            <p:spPr>
              <a:xfrm>
                <a:off x="365760" y="3340608"/>
                <a:ext cx="73152" cy="288000"/>
              </a:xfrm>
              <a:prstGeom prst="rect">
                <a:avLst/>
              </a:prstGeom>
              <a:solidFill>
                <a:srgbClr val="64748B"/>
              </a:solidFill>
              <a:ln w="12700">
                <a:solidFill>
                  <a:srgbClr val="64748B"/>
                </a:solidFill>
                <a:prstDash val="solid"/>
              </a:ln>
            </p:spPr>
          </p:sp>
          <p:sp>
            <p:nvSpPr>
              <p:cNvPr id="22" name="Text 20"/>
              <p:cNvSpPr/>
              <p:nvPr/>
            </p:nvSpPr>
            <p:spPr>
              <a:xfrm>
                <a:off x="585216" y="3340608"/>
                <a:ext cx="201168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67" b="1" dirty="0" smtClean="0">
                    <a:solidFill>
                      <a:srgbClr val="0090C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14:00 </a:t>
                </a:r>
                <a:r>
                  <a:rPr lang="en-US" sz="1267" b="1" dirty="0">
                    <a:solidFill>
                      <a:srgbClr val="0090C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– </a:t>
                </a:r>
                <a:r>
                  <a:rPr lang="en-US" sz="1267" b="1" dirty="0" smtClean="0">
                    <a:solidFill>
                      <a:srgbClr val="0090C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14:45</a:t>
                </a:r>
                <a:endParaRPr lang="en-US" sz="1267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2779776" y="3340608"/>
                <a:ext cx="4450080" cy="28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400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</a:t>
                </a:r>
                <a:r>
                  <a:rPr lang="en-US" sz="1400" dirty="0" smtClean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unch </a:t>
                </a:r>
                <a:r>
                  <a:rPr lang="en-US" sz="1400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Break</a:t>
                </a:r>
                <a:endParaRPr lang="en-US" sz="1400" dirty="0"/>
              </a:p>
            </p:txBody>
          </p:sp>
        </p:grpSp>
        <p:pic>
          <p:nvPicPr>
            <p:cNvPr id="64" name="Picture 63"/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688875" y="4591183"/>
              <a:ext cx="223200" cy="223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14167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A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0" y="-609600"/>
            <a:ext cx="6339840" cy="670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9333" b="1" dirty="0" smtClean="0">
                <a:solidFill>
                  <a:srgbClr val="FFFFFF">
                    <a:alpha val="2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29333" dirty="0"/>
          </a:p>
        </p:txBody>
      </p:sp>
      <p:sp>
        <p:nvSpPr>
          <p:cNvPr id="3" name="Shape 1"/>
          <p:cNvSpPr/>
          <p:nvPr/>
        </p:nvSpPr>
        <p:spPr>
          <a:xfrm>
            <a:off x="463296" y="463296"/>
            <a:ext cx="1341120" cy="3657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463296"/>
            <a:ext cx="134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D97706"/>
                </a:solidFill>
              </a:rPr>
              <a:t>DAY 2</a:t>
            </a:r>
            <a:endParaRPr lang="en-US" sz="1267" dirty="0"/>
          </a:p>
        </p:txBody>
      </p:sp>
      <p:sp>
        <p:nvSpPr>
          <p:cNvPr id="5" name="Text 3"/>
          <p:cNvSpPr/>
          <p:nvPr/>
        </p:nvSpPr>
        <p:spPr>
          <a:xfrm>
            <a:off x="463296" y="1097280"/>
            <a:ext cx="85344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463296" y="1645920"/>
            <a:ext cx="97536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Peripherals</a:t>
            </a:r>
            <a:endParaRPr lang="en-US" sz="5600" dirty="0"/>
          </a:p>
          <a:p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millis()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63296" y="4511040"/>
            <a:ext cx="975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Code  •  Hall Effect  •  Capacitive Touch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296" y="6461760"/>
            <a:ext cx="1126540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Embedded Systems Workshop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77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3296" y="219456"/>
            <a:ext cx="2072640" cy="36576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219456"/>
            <a:ext cx="207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D97706"/>
                </a:solidFill>
              </a:rPr>
              <a:t>MODULE 7</a:t>
            </a:r>
            <a:endParaRPr lang="en-US" sz="1133" dirty="0"/>
          </a:p>
        </p:txBody>
      </p:sp>
      <p:sp>
        <p:nvSpPr>
          <p:cNvPr id="5" name="Text 3"/>
          <p:cNvSpPr/>
          <p:nvPr/>
        </p:nvSpPr>
        <p:spPr>
          <a:xfrm>
            <a:off x="463296" y="707136"/>
            <a:ext cx="11265408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Non-Blocking Code with millis()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63296" y="1463040"/>
            <a:ext cx="1126540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delay() kills your firmware — millis() sets it free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6720" y="1804416"/>
            <a:ext cx="5583936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6720" y="1804416"/>
            <a:ext cx="5583936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1804416"/>
            <a:ext cx="521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delay() — CPU is DEAD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7680" y="2316480"/>
            <a:ext cx="5462016" cy="197510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7680" y="2316480"/>
            <a:ext cx="5462016" cy="1975104"/>
          </a:xfrm>
          <a:prstGeom prst="rect">
            <a:avLst/>
          </a:prstGeom>
          <a:noFill/>
          <a:ln/>
        </p:spPr>
        <p:txBody>
          <a:bodyPr wrap="square" lIns="2032" tIns="2540" rIns="2540" bIns="1693" rtlCol="0" anchor="t"/>
          <a:lstStyle/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Can't read sensors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Can't serve web pages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Can't handle buttons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digitalWrite(LED, HIGH);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delay(1000);  // CPU DEAD here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digitalWrite(LED, LOW);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delay(1000);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1344" y="1804416"/>
            <a:ext cx="5583936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804416"/>
            <a:ext cx="5583936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804416"/>
            <a:ext cx="5218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millis() — CPU stays ALIVE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42304" y="2316480"/>
            <a:ext cx="5462016" cy="197510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42304" y="2316480"/>
            <a:ext cx="5462016" cy="1975104"/>
          </a:xfrm>
          <a:prstGeom prst="rect">
            <a:avLst/>
          </a:prstGeom>
          <a:noFill/>
          <a:ln/>
        </p:spPr>
        <p:txBody>
          <a:bodyPr wrap="square" lIns="2032" tIns="2540" rIns="2540" bIns="1693" rtlCol="0" anchor="t"/>
          <a:lstStyle/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 long prev = 0;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state = false;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(millis() - prev &gt;= 1000) {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prev = millis();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 = !state;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digitalWrite(LED, state);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CPU free for anything!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6720" y="4949952"/>
            <a:ext cx="5583936" cy="180441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6720" y="4949952"/>
            <a:ext cx="5583936" cy="3901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600" y="4949952"/>
            <a:ext cx="521817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Hall Effect Sensor (Built-In!)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609600" y="5413248"/>
            <a:ext cx="5218176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wiring needed — built into ESP32 chip.</a:t>
            </a:r>
            <a:endParaRPr lang="en-US" sz="1400" dirty="0"/>
          </a:p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hallRead() → returns field strength.</a:t>
            </a:r>
            <a:endParaRPr lang="en-US" sz="1400" dirty="0"/>
          </a:p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phone near chip — watch value change.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81344" y="4949952"/>
            <a:ext cx="5583936" cy="1804416"/>
          </a:xfrm>
          <a:prstGeom prst="rect">
            <a:avLst/>
          </a:prstGeom>
          <a:solidFill>
            <a:srgbClr val="FFFFFF"/>
          </a:solidFill>
          <a:ln w="12700">
            <a:solidFill>
              <a:srgbClr val="12BFFF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4949952"/>
            <a:ext cx="5583936" cy="390144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4224" y="4949952"/>
            <a:ext cx="521817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Capacitive Touch Pins T0–T9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6364224" y="5413248"/>
            <a:ext cx="5218176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15cm jumper to GPIO4 (T0) as antenna.</a:t>
            </a:r>
            <a:endParaRPr lang="en-US" sz="1400" dirty="0"/>
          </a:p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touchRead(T0) → ~60 idle, ~10 when touched.</a:t>
            </a:r>
            <a:endParaRPr lang="en-US" sz="1400" dirty="0"/>
          </a:p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mechanical parts — touchless switch!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3066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96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0" y="-609600"/>
            <a:ext cx="6339840" cy="670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9333" b="1" dirty="0" smtClean="0">
                <a:solidFill>
                  <a:srgbClr val="FFFFFF">
                    <a:alpha val="2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9333" dirty="0"/>
          </a:p>
        </p:txBody>
      </p:sp>
      <p:sp>
        <p:nvSpPr>
          <p:cNvPr id="3" name="Shape 1"/>
          <p:cNvSpPr/>
          <p:nvPr/>
        </p:nvSpPr>
        <p:spPr>
          <a:xfrm>
            <a:off x="463296" y="463296"/>
            <a:ext cx="1341120" cy="3657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463296"/>
            <a:ext cx="134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059669"/>
                </a:solidFill>
              </a:rPr>
              <a:t>DAY 2</a:t>
            </a:r>
            <a:endParaRPr lang="en-US" sz="1267" dirty="0"/>
          </a:p>
        </p:txBody>
      </p:sp>
      <p:sp>
        <p:nvSpPr>
          <p:cNvPr id="5" name="Text 3"/>
          <p:cNvSpPr/>
          <p:nvPr/>
        </p:nvSpPr>
        <p:spPr>
          <a:xfrm>
            <a:off x="463296" y="1097280"/>
            <a:ext cx="85344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463296" y="1645920"/>
            <a:ext cx="97536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Management</a:t>
            </a:r>
            <a:endParaRPr lang="en-US" sz="5600" dirty="0"/>
          </a:p>
          <a:p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Deep Sleep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63296" y="4511040"/>
            <a:ext cx="975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10µA Sleep  •  Timer Wakeup  •  GPIO Wakeup  •  RTC Memory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296" y="6461760"/>
            <a:ext cx="1126540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Embedded Systems Workshop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003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3296" y="219456"/>
            <a:ext cx="2072640" cy="365760"/>
          </a:xfrm>
          <a:prstGeom prst="rect">
            <a:avLst/>
          </a:prstGeom>
          <a:solidFill>
            <a:srgbClr val="DCFCE7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219456"/>
            <a:ext cx="207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059669"/>
                </a:solidFill>
              </a:rPr>
              <a:t>MODULE 8</a:t>
            </a:r>
            <a:endParaRPr lang="en-US" sz="1133" dirty="0"/>
          </a:p>
        </p:txBody>
      </p:sp>
      <p:sp>
        <p:nvSpPr>
          <p:cNvPr id="5" name="Text 3"/>
          <p:cNvSpPr/>
          <p:nvPr/>
        </p:nvSpPr>
        <p:spPr>
          <a:xfrm>
            <a:off x="463296" y="707136"/>
            <a:ext cx="11265408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Sleep — Making IoT Devices Last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63296" y="1463040"/>
            <a:ext cx="1126540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 240mA   vs   Deep Sleep: 0.01mA   =   1000× longer battery life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6720" y="1804416"/>
            <a:ext cx="4779264" cy="432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6720" y="1804416"/>
            <a:ext cx="4779264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1804416"/>
            <a:ext cx="4413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ESP32 Power Modes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7680" y="2389632"/>
            <a:ext cx="4632960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7680" y="2389632"/>
            <a:ext cx="85344" cy="7559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5904" y="2438400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2462784" y="2438400"/>
            <a:ext cx="1341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~240 mA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5904" y="2816352"/>
            <a:ext cx="42062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speed — Wi-Fi, CPU, peripherals</a:t>
            </a:r>
            <a:endParaRPr lang="en-US" sz="1133" dirty="0"/>
          </a:p>
        </p:txBody>
      </p:sp>
      <p:sp>
        <p:nvSpPr>
          <p:cNvPr id="15" name="Shape 13"/>
          <p:cNvSpPr/>
          <p:nvPr/>
        </p:nvSpPr>
        <p:spPr>
          <a:xfrm>
            <a:off x="487680" y="3267456"/>
            <a:ext cx="4632960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7680" y="3267456"/>
            <a:ext cx="85344" cy="7559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904" y="3316224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Modem Sleep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2462784" y="3316224"/>
            <a:ext cx="1341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 mA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5904" y="3694176"/>
            <a:ext cx="42062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runs, Wi-Fi off between TX</a:t>
            </a:r>
            <a:endParaRPr lang="en-US" sz="1133" dirty="0"/>
          </a:p>
        </p:txBody>
      </p:sp>
      <p:sp>
        <p:nvSpPr>
          <p:cNvPr id="20" name="Shape 18"/>
          <p:cNvSpPr/>
          <p:nvPr/>
        </p:nvSpPr>
        <p:spPr>
          <a:xfrm>
            <a:off x="487680" y="4145280"/>
            <a:ext cx="4632960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7680" y="4145280"/>
            <a:ext cx="85344" cy="7559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5904" y="4194048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Sleep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2462784" y="4194048"/>
            <a:ext cx="1341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mA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5904" y="4572000"/>
            <a:ext cx="42062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paused, RAM retained</a:t>
            </a:r>
            <a:endParaRPr lang="en-US" sz="1133" dirty="0"/>
          </a:p>
        </p:txBody>
      </p:sp>
      <p:sp>
        <p:nvSpPr>
          <p:cNvPr id="25" name="Shape 23"/>
          <p:cNvSpPr/>
          <p:nvPr/>
        </p:nvSpPr>
        <p:spPr>
          <a:xfrm>
            <a:off x="487680" y="5023104"/>
            <a:ext cx="4632960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7680" y="5023104"/>
            <a:ext cx="85344" cy="7559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5904" y="5071872"/>
            <a:ext cx="1584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Sleep</a:t>
            </a:r>
            <a:endParaRPr lang="en-US" sz="1467" dirty="0"/>
          </a:p>
        </p:txBody>
      </p:sp>
      <p:sp>
        <p:nvSpPr>
          <p:cNvPr id="28" name="Text 26"/>
          <p:cNvSpPr/>
          <p:nvPr/>
        </p:nvSpPr>
        <p:spPr>
          <a:xfrm>
            <a:off x="2462784" y="5071872"/>
            <a:ext cx="1341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~0.01 mA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5904" y="5449824"/>
            <a:ext cx="42062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RTC — 1000× battery savings ✅</a:t>
            </a:r>
            <a:endParaRPr lang="en-US" sz="1133" dirty="0"/>
          </a:p>
        </p:txBody>
      </p:sp>
      <p:sp>
        <p:nvSpPr>
          <p:cNvPr id="30" name="Shape 28"/>
          <p:cNvSpPr/>
          <p:nvPr/>
        </p:nvSpPr>
        <p:spPr>
          <a:xfrm>
            <a:off x="5449824" y="1804416"/>
            <a:ext cx="6291072" cy="432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49824" y="1804416"/>
            <a:ext cx="6291072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32704" y="1804416"/>
            <a:ext cx="5925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Exercises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510784" y="2316480"/>
            <a:ext cx="6169152" cy="197510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510784" y="2316480"/>
            <a:ext cx="6169152" cy="1889760"/>
          </a:xfrm>
          <a:prstGeom prst="rect">
            <a:avLst/>
          </a:prstGeom>
          <a:noFill/>
          <a:ln/>
        </p:spPr>
        <p:txBody>
          <a:bodyPr wrap="square" lIns="2032" tIns="2540" rIns="2540" bIns="1693" rtlCol="0" anchor="t"/>
          <a:lstStyle/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RTC_DATA_ATTR int bootCount = 0;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bootCount++;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Serial.printf("Boot #%d\n",bootCount);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...read sensor, blink LED...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esp_sleep_enable_timer_wakeup(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10ULL * 1000000); // 10 seconds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esp_deep_sleep_start();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32704" y="4291584"/>
            <a:ext cx="592531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 8.1 — Timer Wakeup:</a:t>
            </a:r>
            <a:endParaRPr lang="en-US" sz="1467" dirty="0"/>
          </a:p>
        </p:txBody>
      </p:sp>
      <p:sp>
        <p:nvSpPr>
          <p:cNvPr id="36" name="Text 34"/>
          <p:cNvSpPr/>
          <p:nvPr/>
        </p:nvSpPr>
        <p:spPr>
          <a:xfrm>
            <a:off x="5632704" y="4657344"/>
            <a:ext cx="592531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LED, sleep 10s, wake, print boot count (RTC_DATA_ATTR survives sleep), repeat.</a:t>
            </a:r>
            <a:endParaRPr lang="en-US" sz="1333" dirty="0"/>
          </a:p>
        </p:txBody>
      </p:sp>
      <p:sp>
        <p:nvSpPr>
          <p:cNvPr id="37" name="Text 35"/>
          <p:cNvSpPr/>
          <p:nvPr/>
        </p:nvSpPr>
        <p:spPr>
          <a:xfrm>
            <a:off x="5632704" y="5145024"/>
            <a:ext cx="592531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 8.2 — GPIO Button Wakeup (EXT0):</a:t>
            </a:r>
            <a:endParaRPr lang="en-US" sz="1467" dirty="0"/>
          </a:p>
        </p:txBody>
      </p:sp>
      <p:sp>
        <p:nvSpPr>
          <p:cNvPr id="38" name="Text 36"/>
          <p:cNvSpPr/>
          <p:nvPr/>
        </p:nvSpPr>
        <p:spPr>
          <a:xfrm>
            <a:off x="5632704" y="5510784"/>
            <a:ext cx="59253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until GPIO15 button pressed → wake → read DHT11 → print temp → sleep again. This is how smart door sensors work.</a:t>
            </a:r>
            <a:endParaRPr lang="en-US" sz="1333" dirty="0"/>
          </a:p>
        </p:txBody>
      </p:sp>
      <p:sp>
        <p:nvSpPr>
          <p:cNvPr id="39" name="Shape 37"/>
          <p:cNvSpPr/>
          <p:nvPr/>
        </p:nvSpPr>
        <p:spPr>
          <a:xfrm>
            <a:off x="426720" y="6217920"/>
            <a:ext cx="11314176" cy="463296"/>
          </a:xfrm>
          <a:prstGeom prst="rect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9600" y="6254496"/>
            <a:ext cx="1109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Math: Every 5min active — 3s @ 240mA + 297s @ 0.01mA = avg 2.4mA → 2000mAh battery lasts 34 days vs 8 hours without sleep.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34579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0" y="-609600"/>
            <a:ext cx="6339840" cy="670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9333" b="1" dirty="0" smtClean="0">
                <a:solidFill>
                  <a:srgbClr val="FFFFFF">
                    <a:alpha val="2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9333" dirty="0"/>
          </a:p>
        </p:txBody>
      </p:sp>
      <p:sp>
        <p:nvSpPr>
          <p:cNvPr id="3" name="Shape 1"/>
          <p:cNvSpPr/>
          <p:nvPr/>
        </p:nvSpPr>
        <p:spPr>
          <a:xfrm>
            <a:off x="463296" y="463296"/>
            <a:ext cx="1341120" cy="3657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463296"/>
            <a:ext cx="134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7C3AED"/>
                </a:solidFill>
              </a:rPr>
              <a:t>DAY </a:t>
            </a:r>
            <a:r>
              <a:rPr lang="en-US" sz="1267" b="1" dirty="0" smtClean="0">
                <a:solidFill>
                  <a:srgbClr val="7C3AED"/>
                </a:solidFill>
              </a:rPr>
              <a:t>2</a:t>
            </a:r>
            <a:endParaRPr lang="en-US" sz="1267" dirty="0">
              <a:solidFill>
                <a:srgbClr val="7C3AED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63296" y="1097280"/>
            <a:ext cx="85344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463296" y="1645920"/>
            <a:ext cx="97536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RTC — Real</a:t>
            </a:r>
            <a:endParaRPr lang="en-US" sz="5600" dirty="0"/>
          </a:p>
          <a:p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 Clock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63296" y="4511040"/>
            <a:ext cx="975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Timekeeping  •  </a:t>
            </a:r>
            <a:r>
              <a:rPr lang="en-US" sz="2000" i="1" dirty="0" smtClean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  </a:t>
            </a:r>
            <a:r>
              <a:rPr lang="en-US" sz="20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Timestamps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296" y="6461760"/>
            <a:ext cx="1126540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Embedded Systems Workshop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482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3296" y="219456"/>
            <a:ext cx="2072640" cy="36576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219456"/>
            <a:ext cx="207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7C3AED"/>
                </a:solidFill>
              </a:rPr>
              <a:t>MODULE 8</a:t>
            </a:r>
            <a:endParaRPr lang="en-US" sz="1133" dirty="0">
              <a:solidFill>
                <a:srgbClr val="7C3AED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63296" y="585833"/>
            <a:ext cx="11265408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RTC — Real Time Clock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26720" y="1215245"/>
            <a:ext cx="1126540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time using the ESP32's built-in RTC — no extra hardware needed, powered by the same chip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2071" y="1804416"/>
            <a:ext cx="6645888" cy="2292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2071" y="1804416"/>
            <a:ext cx="6645888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951" y="1804416"/>
            <a:ext cx="620769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Internal RTC Works?</a:t>
            </a:r>
            <a:endParaRPr lang="en-US" sz="1600" dirty="0"/>
          </a:p>
        </p:txBody>
      </p:sp>
      <p:grpSp>
        <p:nvGrpSpPr>
          <p:cNvPr id="55" name="Group 54"/>
          <p:cNvGrpSpPr/>
          <p:nvPr/>
        </p:nvGrpSpPr>
        <p:grpSpPr>
          <a:xfrm>
            <a:off x="413031" y="2383536"/>
            <a:ext cx="6485218" cy="190800"/>
            <a:chOff x="487679" y="2383536"/>
            <a:chExt cx="6230273" cy="205440"/>
          </a:xfrm>
        </p:grpSpPr>
        <p:sp>
          <p:nvSpPr>
            <p:cNvPr id="10" name="Shape 8"/>
            <p:cNvSpPr/>
            <p:nvPr/>
          </p:nvSpPr>
          <p:spPr>
            <a:xfrm>
              <a:off x="487679" y="2383536"/>
              <a:ext cx="6230273" cy="190800"/>
            </a:xfrm>
            <a:prstGeom prst="rect">
              <a:avLst/>
            </a:prstGeom>
            <a:solidFill>
              <a:srgbClr val="F0F8FF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487679" y="2383536"/>
              <a:ext cx="98225" cy="190800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707136" y="2383536"/>
              <a:ext cx="2104822" cy="19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b="1" dirty="0" smtClean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Clock Source</a:t>
              </a:r>
              <a:endParaRPr lang="en-US" sz="1267" dirty="0">
                <a:solidFill>
                  <a:srgbClr val="7C3AED"/>
                </a:solidFill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1651518" y="2383536"/>
              <a:ext cx="4605928" cy="205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 smtClean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RTC runs on a 150 kHz internal oscillator (or external 32.768 kHz crystal if fitted)</a:t>
              </a:r>
              <a:endParaRPr lang="en-US" sz="1133" dirty="0"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413031" y="2728847"/>
            <a:ext cx="6778379" cy="190800"/>
            <a:chOff x="413031" y="2919984"/>
            <a:chExt cx="6778379" cy="190800"/>
          </a:xfrm>
        </p:grpSpPr>
        <p:sp>
          <p:nvSpPr>
            <p:cNvPr id="14" name="Shape 12"/>
            <p:cNvSpPr/>
            <p:nvPr/>
          </p:nvSpPr>
          <p:spPr>
            <a:xfrm>
              <a:off x="413031" y="2919984"/>
              <a:ext cx="6485218" cy="190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413031" y="2919984"/>
              <a:ext cx="102244" cy="190800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32488" y="2919984"/>
              <a:ext cx="2190952" cy="19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b="1" dirty="0" smtClean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Survives Deep Sleep</a:t>
              </a:r>
              <a:endParaRPr lang="en-US" sz="1267" dirty="0">
                <a:solidFill>
                  <a:srgbClr val="7C3AED"/>
                </a:solidFill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2043410" y="2919984"/>
              <a:ext cx="5148000" cy="19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 smtClean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RTC domain stays powered even in deep sleep (~6.5 µA) — time keeps ticking</a:t>
              </a:r>
              <a:endParaRPr lang="en-US" sz="1133" dirty="0"/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413031" y="3074158"/>
            <a:ext cx="6485218" cy="190800"/>
            <a:chOff x="413031" y="3478329"/>
            <a:chExt cx="6485218" cy="202992"/>
          </a:xfrm>
        </p:grpSpPr>
        <p:sp>
          <p:nvSpPr>
            <p:cNvPr id="18" name="Shape 16"/>
            <p:cNvSpPr/>
            <p:nvPr/>
          </p:nvSpPr>
          <p:spPr>
            <a:xfrm>
              <a:off x="413031" y="3484425"/>
              <a:ext cx="6485218" cy="190800"/>
            </a:xfrm>
            <a:prstGeom prst="rect">
              <a:avLst/>
            </a:prstGeom>
            <a:solidFill>
              <a:srgbClr val="F0F8FF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413031" y="3484425"/>
              <a:ext cx="102244" cy="190800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632487" y="3484425"/>
              <a:ext cx="2278590" cy="19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b="1" dirty="0" smtClean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Does NOT survive power-off</a:t>
              </a:r>
              <a:endParaRPr lang="en-US" sz="1267" dirty="0">
                <a:solidFill>
                  <a:srgbClr val="7C3AED"/>
                </a:solidFill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2581095" y="3478329"/>
              <a:ext cx="4281240" cy="2029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 smtClean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battery backup — loses time if 3.3V is removed completely</a:t>
              </a:r>
              <a:endParaRPr lang="en-US" sz="1133" dirty="0"/>
            </a:p>
          </p:txBody>
        </p:sp>
      </p:grpSp>
      <p:sp>
        <p:nvSpPr>
          <p:cNvPr id="22" name="Shape 20"/>
          <p:cNvSpPr/>
          <p:nvPr/>
        </p:nvSpPr>
        <p:spPr>
          <a:xfrm>
            <a:off x="352071" y="4277868"/>
            <a:ext cx="6645888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2071" y="4277868"/>
            <a:ext cx="6645888" cy="4145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51" y="4277868"/>
            <a:ext cx="620769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Setting Time: Two Methods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534952" y="4765548"/>
            <a:ext cx="160669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33" dirty="0"/>
          </a:p>
        </p:txBody>
      </p:sp>
      <p:sp>
        <p:nvSpPr>
          <p:cNvPr id="27" name="Text 25"/>
          <p:cNvSpPr/>
          <p:nvPr/>
        </p:nvSpPr>
        <p:spPr>
          <a:xfrm>
            <a:off x="3436647" y="4765548"/>
            <a:ext cx="2629143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133" dirty="0"/>
          </a:p>
        </p:txBody>
      </p:sp>
      <p:grpSp>
        <p:nvGrpSpPr>
          <p:cNvPr id="69" name="Group 68"/>
          <p:cNvGrpSpPr/>
          <p:nvPr/>
        </p:nvGrpSpPr>
        <p:grpSpPr>
          <a:xfrm>
            <a:off x="413031" y="5064252"/>
            <a:ext cx="6485218" cy="288000"/>
            <a:chOff x="413031" y="5010912"/>
            <a:chExt cx="6485218" cy="288000"/>
          </a:xfrm>
        </p:grpSpPr>
        <p:sp>
          <p:nvSpPr>
            <p:cNvPr id="28" name="Shape 26"/>
            <p:cNvSpPr/>
            <p:nvPr/>
          </p:nvSpPr>
          <p:spPr>
            <a:xfrm>
              <a:off x="413031" y="5010912"/>
              <a:ext cx="6485218" cy="288000"/>
            </a:xfrm>
            <a:prstGeom prst="rect">
              <a:avLst/>
            </a:prstGeom>
            <a:solidFill>
              <a:srgbClr val="F0F8FF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534952" y="5010912"/>
              <a:ext cx="1606698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 err="1" smtClean="0">
                  <a:solidFill>
                    <a:srgbClr val="7C3AE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configTime</a:t>
              </a:r>
              <a:r>
                <a:rPr lang="en-US" sz="1200" b="1" dirty="0" smtClean="0">
                  <a:solidFill>
                    <a:srgbClr val="7C3AE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 + NTP</a:t>
              </a:r>
              <a:endParaRPr lang="en-US" sz="1200" dirty="0">
                <a:solidFill>
                  <a:srgbClr val="7C3AED"/>
                </a:solidFill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3436647" y="5010912"/>
              <a:ext cx="3185133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 smtClean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Wi-Fi available — syncs from internet, most accurate</a:t>
              </a:r>
              <a:endParaRPr lang="en-US" sz="1133" dirty="0"/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413031" y="5474208"/>
            <a:ext cx="6485218" cy="288000"/>
            <a:chOff x="413031" y="5359908"/>
            <a:chExt cx="6485218" cy="288000"/>
          </a:xfrm>
        </p:grpSpPr>
        <p:sp>
          <p:nvSpPr>
            <p:cNvPr id="44" name="Shape 42"/>
            <p:cNvSpPr/>
            <p:nvPr/>
          </p:nvSpPr>
          <p:spPr>
            <a:xfrm>
              <a:off x="413031" y="5359908"/>
              <a:ext cx="6485218" cy="288000"/>
            </a:xfrm>
            <a:prstGeom prst="rect">
              <a:avLst/>
            </a:prstGeom>
            <a:solidFill>
              <a:srgbClr val="F0F8FF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534952" y="5359908"/>
              <a:ext cx="1827248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 err="1" smtClean="0">
                  <a:solidFill>
                    <a:srgbClr val="7C3AE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struct</a:t>
              </a:r>
              <a:r>
                <a:rPr lang="en-US" sz="1200" b="1" dirty="0" smtClean="0">
                  <a:solidFill>
                    <a:srgbClr val="7C3AE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tm manual set</a:t>
              </a:r>
              <a:endParaRPr lang="en-US" sz="1200" dirty="0">
                <a:solidFill>
                  <a:srgbClr val="7C3AED"/>
                </a:solidFill>
              </a:endParaRPr>
            </a:p>
          </p:txBody>
        </p:sp>
        <p:sp>
          <p:nvSpPr>
            <p:cNvPr id="47" name="Text 45"/>
            <p:cNvSpPr/>
            <p:nvPr/>
          </p:nvSpPr>
          <p:spPr>
            <a:xfrm>
              <a:off x="3436647" y="5359908"/>
              <a:ext cx="2629143" cy="28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 smtClean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Wi-Fi — hardcode date/time at upload</a:t>
              </a:r>
              <a:endParaRPr lang="en-US" sz="1133" dirty="0"/>
            </a:p>
          </p:txBody>
        </p:sp>
      </p:grpSp>
      <p:sp>
        <p:nvSpPr>
          <p:cNvPr id="48" name="Shape 46"/>
          <p:cNvSpPr/>
          <p:nvPr/>
        </p:nvSpPr>
        <p:spPr>
          <a:xfrm>
            <a:off x="7248412" y="1804416"/>
            <a:ext cx="4567132" cy="492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248412" y="1804416"/>
            <a:ext cx="4567132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67989" y="1804416"/>
            <a:ext cx="426467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RTClib Code — Set, Read &amp; Alarm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288271" y="2316480"/>
            <a:ext cx="4466312" cy="426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288271" y="2316480"/>
            <a:ext cx="4466312" cy="4267200"/>
          </a:xfrm>
          <a:prstGeom prst="rect">
            <a:avLst/>
          </a:prstGeom>
          <a:noFill/>
          <a:ln/>
        </p:spPr>
        <p:txBody>
          <a:bodyPr wrap="square" lIns="2032" tIns="2540" rIns="2540" bIns="1693" rtlCol="0" anchor="t"/>
          <a:lstStyle/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platformio.ini — no extra 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lib_deps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needed!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WiFi.h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time.h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</a:p>
          <a:p>
            <a:endParaRPr lang="en-US" sz="800" dirty="0" smtClean="0">
              <a:solidFill>
                <a:srgbClr val="4ADE8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char* 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ntpServer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"pool.ntp.org";</a:t>
            </a:r>
          </a:p>
          <a:p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long  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gmtOffset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19800; // IST = UTC+5:30 (seconds)</a:t>
            </a:r>
          </a:p>
          <a:p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daylightOffset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0;</a:t>
            </a:r>
          </a:p>
          <a:p>
            <a:endParaRPr lang="en-US" sz="800" dirty="0" smtClean="0">
              <a:solidFill>
                <a:srgbClr val="4ADE8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Serial.begin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(115200);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WiFi.begin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("SSID", "PASSWORD");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WiFi.status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!= WL_CONNECTED) delay(500);</a:t>
            </a:r>
          </a:p>
          <a:p>
            <a:endParaRPr lang="en-US" sz="800" dirty="0" smtClean="0">
              <a:solidFill>
                <a:srgbClr val="4ADE8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Sync time from internet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configTime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gmtOffset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daylightOffset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ntpServer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endParaRPr lang="en-US" sz="800" dirty="0" smtClean="0">
              <a:solidFill>
                <a:srgbClr val="4ADE8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tm 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timeinfo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getLocalTime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(&amp;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timeinfo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{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("Failed to get time");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Print formatted date &amp; time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Serial.printf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("%04d/%02d/%02d  %02d:%02d:%02d\n",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timeinfo.tm_year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+ 1900,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timeinfo.tm_mon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+ 1,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timeinfo.tm_mday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timeinfo.tm_hour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timeinfo.tm_min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dirty="0" err="1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timeinfo.tm_sec</a:t>
            </a:r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delay(1000);</a:t>
            </a:r>
          </a:p>
          <a:p>
            <a:r>
              <a:rPr lang="en-US" sz="800" dirty="0" smtClean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52071" y="6094800"/>
            <a:ext cx="6645888" cy="6120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4951" y="6094800"/>
            <a:ext cx="6280729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8.1 — </a:t>
            </a:r>
            <a:r>
              <a:rPr lang="en-US" sz="1133" b="1" dirty="0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DHT11 readings with timestamp: "2025/03/08 14:32:05 | Temp: 28.4°C | Hum: 62%“</a:t>
            </a:r>
          </a:p>
          <a:p>
            <a:r>
              <a:rPr lang="en-US" sz="1133" b="1" dirty="0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</a:t>
            </a:r>
            <a:r>
              <a:rPr lang="en-US" sz="1133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— </a:t>
            </a:r>
            <a:r>
              <a:rPr lang="en-US" sz="1133" b="1" dirty="0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buzzer alarm at a specific </a:t>
            </a:r>
            <a:r>
              <a:rPr lang="en-US" sz="1133" b="1" dirty="0" err="1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hour:minute</a:t>
            </a:r>
            <a:r>
              <a:rPr lang="en-US" sz="1133" b="1" dirty="0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</a:t>
            </a:r>
            <a:r>
              <a:rPr lang="en-US" sz="1133" b="1" dirty="0" err="1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timeinfo.tm_hour</a:t>
            </a:r>
            <a:r>
              <a:rPr lang="en-US" sz="1133" b="1" dirty="0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133" b="1" dirty="0" err="1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timeinfo.tm_min</a:t>
            </a:r>
            <a:endParaRPr lang="en-US" sz="1133" dirty="0">
              <a:solidFill>
                <a:srgbClr val="7C3AED"/>
              </a:solidFill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413031" y="3419469"/>
            <a:ext cx="6485218" cy="190800"/>
            <a:chOff x="413031" y="2919984"/>
            <a:chExt cx="6485218" cy="190800"/>
          </a:xfrm>
        </p:grpSpPr>
        <p:sp>
          <p:nvSpPr>
            <p:cNvPr id="59" name="Shape 12"/>
            <p:cNvSpPr/>
            <p:nvPr/>
          </p:nvSpPr>
          <p:spPr>
            <a:xfrm>
              <a:off x="413031" y="2919984"/>
              <a:ext cx="6485218" cy="190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60" name="Shape 13"/>
            <p:cNvSpPr/>
            <p:nvPr/>
          </p:nvSpPr>
          <p:spPr>
            <a:xfrm>
              <a:off x="413031" y="2919984"/>
              <a:ext cx="102244" cy="190800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61" name="Text 14"/>
            <p:cNvSpPr/>
            <p:nvPr/>
          </p:nvSpPr>
          <p:spPr>
            <a:xfrm>
              <a:off x="632488" y="2919984"/>
              <a:ext cx="2190952" cy="19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b="1" dirty="0" smtClean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Drift</a:t>
              </a:r>
              <a:endParaRPr lang="en-US" sz="1267" dirty="0">
                <a:solidFill>
                  <a:srgbClr val="7C3AED"/>
                </a:solidFill>
              </a:endParaRPr>
            </a:p>
          </p:txBody>
        </p:sp>
        <p:sp>
          <p:nvSpPr>
            <p:cNvPr id="62" name="Text 15"/>
            <p:cNvSpPr/>
            <p:nvPr/>
          </p:nvSpPr>
          <p:spPr>
            <a:xfrm>
              <a:off x="1116564" y="2919984"/>
              <a:ext cx="5157941" cy="19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 smtClean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~1–2 minutes per day — acceptable for logging; use NTP sync over Wi-Fi for precision</a:t>
              </a:r>
              <a:endParaRPr lang="en-US" sz="1133" dirty="0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413031" y="3764780"/>
            <a:ext cx="6485218" cy="190800"/>
            <a:chOff x="413031" y="3478329"/>
            <a:chExt cx="6485218" cy="196896"/>
          </a:xfrm>
        </p:grpSpPr>
        <p:sp>
          <p:nvSpPr>
            <p:cNvPr id="64" name="Shape 16"/>
            <p:cNvSpPr/>
            <p:nvPr/>
          </p:nvSpPr>
          <p:spPr>
            <a:xfrm>
              <a:off x="413031" y="3484425"/>
              <a:ext cx="6485218" cy="190800"/>
            </a:xfrm>
            <a:prstGeom prst="rect">
              <a:avLst/>
            </a:prstGeom>
            <a:solidFill>
              <a:srgbClr val="F0F8FF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65" name="Shape 17"/>
            <p:cNvSpPr/>
            <p:nvPr/>
          </p:nvSpPr>
          <p:spPr>
            <a:xfrm>
              <a:off x="413031" y="3484425"/>
              <a:ext cx="102244" cy="190800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66" name="Text 18"/>
            <p:cNvSpPr/>
            <p:nvPr/>
          </p:nvSpPr>
          <p:spPr>
            <a:xfrm>
              <a:off x="632487" y="3484424"/>
              <a:ext cx="913542" cy="19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b="1" dirty="0" smtClean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Resolution</a:t>
              </a:r>
              <a:endParaRPr lang="en-US" sz="1267" dirty="0">
                <a:solidFill>
                  <a:srgbClr val="7C3AED"/>
                </a:solidFill>
              </a:endParaRPr>
            </a:p>
          </p:txBody>
        </p:sp>
        <p:sp>
          <p:nvSpPr>
            <p:cNvPr id="67" name="Text 19"/>
            <p:cNvSpPr/>
            <p:nvPr/>
          </p:nvSpPr>
          <p:spPr>
            <a:xfrm>
              <a:off x="1546029" y="3478329"/>
              <a:ext cx="5269651" cy="19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dirty="0" smtClean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 second via </a:t>
              </a:r>
              <a:r>
                <a:rPr lang="en-US" sz="1133" dirty="0" err="1" smtClean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getLocalTime</a:t>
              </a:r>
              <a:r>
                <a:rPr lang="en-US" sz="1133" dirty="0" smtClean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(), microseconds via </a:t>
              </a:r>
              <a:r>
                <a:rPr lang="en-US" sz="1133" dirty="0" err="1" smtClean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esp_timer_get_time</a:t>
              </a:r>
              <a:r>
                <a:rPr lang="en-US" sz="1133" dirty="0" smtClean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()</a:t>
              </a:r>
              <a:endParaRPr lang="en-US" sz="1133" dirty="0"/>
            </a:p>
          </p:txBody>
        </p:sp>
      </p:grpSp>
    </p:spTree>
    <p:extLst>
      <p:ext uri="{BB962C8B-B14F-4D97-AF65-F5344CB8AC3E}">
        <p14:creationId xmlns:p14="http://schemas.microsoft.com/office/powerpoint/2010/main" val="380388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5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0" y="-609600"/>
            <a:ext cx="6339840" cy="670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9333" b="1" dirty="0" smtClean="0">
                <a:solidFill>
                  <a:srgbClr val="FFFFFF">
                    <a:alpha val="2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9333" dirty="0"/>
          </a:p>
        </p:txBody>
      </p:sp>
      <p:sp>
        <p:nvSpPr>
          <p:cNvPr id="3" name="Shape 1"/>
          <p:cNvSpPr/>
          <p:nvPr/>
        </p:nvSpPr>
        <p:spPr>
          <a:xfrm>
            <a:off x="463296" y="463296"/>
            <a:ext cx="1341120" cy="3657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463296"/>
            <a:ext cx="134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EA580C"/>
                </a:solidFill>
              </a:rPr>
              <a:t>DAY </a:t>
            </a:r>
            <a:r>
              <a:rPr lang="en-US" sz="1267" b="1" dirty="0" smtClean="0">
                <a:solidFill>
                  <a:srgbClr val="EA580C"/>
                </a:solidFill>
              </a:rPr>
              <a:t>2</a:t>
            </a:r>
            <a:endParaRPr lang="en-US" sz="1267" dirty="0"/>
          </a:p>
        </p:txBody>
      </p:sp>
      <p:sp>
        <p:nvSpPr>
          <p:cNvPr id="5" name="Text 3"/>
          <p:cNvSpPr/>
          <p:nvPr/>
        </p:nvSpPr>
        <p:spPr>
          <a:xfrm>
            <a:off x="463296" y="1097280"/>
            <a:ext cx="85344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463296" y="1645920"/>
            <a:ext cx="97536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SPIFFS —</a:t>
            </a:r>
            <a:endParaRPr lang="en-US" sz="5600" dirty="0"/>
          </a:p>
          <a:p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 System Storage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63296" y="4511040"/>
            <a:ext cx="975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File System  • </a:t>
            </a:r>
            <a:r>
              <a:rPr lang="en-US" sz="2000" i="1" dirty="0" err="1" smtClean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r>
              <a:rPr lang="en-US" sz="2000" i="1" dirty="0" smtClean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 •  Logging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296" y="6461760"/>
            <a:ext cx="1126540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Embedded Systems Workshop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641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3296" y="219456"/>
            <a:ext cx="2072640" cy="365760"/>
          </a:xfrm>
          <a:prstGeom prst="rect">
            <a:avLst/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219456"/>
            <a:ext cx="207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EA580C"/>
                </a:solidFill>
              </a:rPr>
              <a:t>MODULE 9</a:t>
            </a:r>
            <a:endParaRPr lang="en-US" sz="1133" dirty="0"/>
          </a:p>
        </p:txBody>
      </p:sp>
      <p:sp>
        <p:nvSpPr>
          <p:cNvPr id="5" name="Text 3"/>
          <p:cNvSpPr/>
          <p:nvPr/>
        </p:nvSpPr>
        <p:spPr>
          <a:xfrm>
            <a:off x="463296" y="707136"/>
            <a:ext cx="11271504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SPIFFS — Serial Peripheral Interface Flash File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63296" y="1297940"/>
            <a:ext cx="1126540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HTML, config files, images, and data logs directly on the ESP32's own flash chip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804416"/>
            <a:ext cx="518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SPIFFS?</a:t>
            </a:r>
            <a:endParaRPr lang="en-US" sz="1600" dirty="0"/>
          </a:p>
        </p:txBody>
      </p:sp>
      <p:grpSp>
        <p:nvGrpSpPr>
          <p:cNvPr id="59" name="Group 58"/>
          <p:cNvGrpSpPr/>
          <p:nvPr/>
        </p:nvGrpSpPr>
        <p:grpSpPr>
          <a:xfrm>
            <a:off x="426720" y="1701775"/>
            <a:ext cx="5547360" cy="2438400"/>
            <a:chOff x="426720" y="1804416"/>
            <a:chExt cx="5547360" cy="2438400"/>
          </a:xfrm>
        </p:grpSpPr>
        <p:sp>
          <p:nvSpPr>
            <p:cNvPr id="7" name="Shape 5"/>
            <p:cNvSpPr/>
            <p:nvPr/>
          </p:nvSpPr>
          <p:spPr>
            <a:xfrm>
              <a:off x="426720" y="1804416"/>
              <a:ext cx="5547360" cy="24384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97706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426720" y="1804416"/>
              <a:ext cx="5547360" cy="438912"/>
            </a:xfrm>
            <a:prstGeom prst="rect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  <p:txBody>
            <a:bodyPr/>
            <a:lstStyle/>
            <a:p>
              <a:endParaRPr lang="en-US" sz="3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endParaRPr>
            </a:p>
            <a:p>
              <a:r>
                <a:rPr lang="en-US" b="1" dirty="0" smtClean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What </a:t>
              </a:r>
              <a:r>
                <a:rPr lang="en-US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is SPIFFS?</a:t>
              </a:r>
              <a:endParaRPr lang="en-US" dirty="0"/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487680" y="2236729"/>
              <a:ext cx="5413248" cy="1956551"/>
              <a:chOff x="487680" y="2236729"/>
              <a:chExt cx="5413248" cy="1956551"/>
            </a:xfrm>
          </p:grpSpPr>
          <p:grpSp>
            <p:nvGrpSpPr>
              <p:cNvPr id="54" name="Group 53"/>
              <p:cNvGrpSpPr/>
              <p:nvPr/>
            </p:nvGrpSpPr>
            <p:grpSpPr>
              <a:xfrm>
                <a:off x="487680" y="2236729"/>
                <a:ext cx="5413248" cy="642803"/>
                <a:chOff x="487680" y="2302045"/>
                <a:chExt cx="5413248" cy="642803"/>
              </a:xfrm>
            </p:grpSpPr>
            <p:sp>
              <p:nvSpPr>
                <p:cNvPr id="10" name="Shape 8"/>
                <p:cNvSpPr/>
                <p:nvPr/>
              </p:nvSpPr>
              <p:spPr>
                <a:xfrm>
                  <a:off x="487680" y="2365248"/>
                  <a:ext cx="5413248" cy="579600"/>
                </a:xfrm>
                <a:prstGeom prst="rect">
                  <a:avLst/>
                </a:prstGeom>
                <a:solidFill>
                  <a:srgbClr val="F0F8FF"/>
                </a:solidFill>
                <a:ln w="12700">
                  <a:solidFill>
                    <a:srgbClr val="CBD5E1"/>
                  </a:solidFill>
                  <a:prstDash val="solid"/>
                </a:ln>
              </p:spPr>
            </p:sp>
            <p:sp>
              <p:nvSpPr>
                <p:cNvPr id="11" name="Shape 9"/>
                <p:cNvSpPr/>
                <p:nvPr/>
              </p:nvSpPr>
              <p:spPr>
                <a:xfrm>
                  <a:off x="487680" y="2365248"/>
                  <a:ext cx="85344" cy="579600"/>
                </a:xfrm>
                <a:prstGeom prst="rect">
                  <a:avLst/>
                </a:prstGeom>
                <a:solidFill>
                  <a:srgbClr val="EA580C"/>
                </a:solidFill>
                <a:ln w="12700">
                  <a:solidFill>
                    <a:srgbClr val="EA580C"/>
                  </a:solidFill>
                  <a:prstDash val="solid"/>
                </a:ln>
              </p:spPr>
            </p:sp>
            <p:grpSp>
              <p:nvGrpSpPr>
                <p:cNvPr id="51" name="Group 50"/>
                <p:cNvGrpSpPr/>
                <p:nvPr/>
              </p:nvGrpSpPr>
              <p:grpSpPr>
                <a:xfrm>
                  <a:off x="707136" y="2302045"/>
                  <a:ext cx="4998720" cy="579496"/>
                  <a:chOff x="707136" y="2302045"/>
                  <a:chExt cx="4998720" cy="579496"/>
                </a:xfrm>
              </p:grpSpPr>
              <p:sp>
                <p:nvSpPr>
                  <p:cNvPr id="12" name="Text 10"/>
                  <p:cNvSpPr/>
                  <p:nvPr/>
                </p:nvSpPr>
                <p:spPr>
                  <a:xfrm>
                    <a:off x="707136" y="2302045"/>
                    <a:ext cx="4998720" cy="2926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1400" b="1" dirty="0">
                        <a:solidFill>
                          <a:srgbClr val="EA580C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Flash Partition</a:t>
                    </a:r>
                    <a:endParaRPr lang="en-US" sz="1400" dirty="0"/>
                  </a:p>
                </p:txBody>
              </p:sp>
              <p:sp>
                <p:nvSpPr>
                  <p:cNvPr id="13" name="Text 11"/>
                  <p:cNvSpPr/>
                  <p:nvPr/>
                </p:nvSpPr>
                <p:spPr>
                  <a:xfrm>
                    <a:off x="707136" y="2613317"/>
                    <a:ext cx="4998720" cy="26822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1200" dirty="0">
                        <a:solidFill>
                          <a:srgbClr val="64748B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Uses unused portion of the 4 MB Flash chip</a:t>
                    </a:r>
                    <a:endParaRPr lang="en-US" sz="1200" dirty="0"/>
                  </a:p>
                  <a:p>
                    <a:r>
                      <a:rPr lang="en-US" sz="1200" dirty="0">
                        <a:solidFill>
                          <a:srgbClr val="64748B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alongside your code — typically 1–3 MB available.</a:t>
                    </a:r>
                    <a:endParaRPr lang="en-US" sz="1200" dirty="0"/>
                  </a:p>
                </p:txBody>
              </p:sp>
            </p:grpSp>
          </p:grpSp>
          <p:grpSp>
            <p:nvGrpSpPr>
              <p:cNvPr id="55" name="Group 54"/>
              <p:cNvGrpSpPr/>
              <p:nvPr/>
            </p:nvGrpSpPr>
            <p:grpSpPr>
              <a:xfrm>
                <a:off x="487680" y="2898269"/>
                <a:ext cx="5413248" cy="624140"/>
                <a:chOff x="487680" y="3052228"/>
                <a:chExt cx="5413248" cy="624140"/>
              </a:xfrm>
            </p:grpSpPr>
            <p:sp>
              <p:nvSpPr>
                <p:cNvPr id="14" name="Shape 12"/>
                <p:cNvSpPr/>
                <p:nvPr/>
              </p:nvSpPr>
              <p:spPr>
                <a:xfrm>
                  <a:off x="487680" y="3096768"/>
                  <a:ext cx="5413248" cy="5796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CBD5E1"/>
                  </a:solidFill>
                  <a:prstDash val="solid"/>
                </a:ln>
              </p:spPr>
            </p:sp>
            <p:sp>
              <p:nvSpPr>
                <p:cNvPr id="15" name="Shape 13"/>
                <p:cNvSpPr/>
                <p:nvPr/>
              </p:nvSpPr>
              <p:spPr>
                <a:xfrm>
                  <a:off x="487680" y="3096768"/>
                  <a:ext cx="85344" cy="579600"/>
                </a:xfrm>
                <a:prstGeom prst="rect">
                  <a:avLst/>
                </a:prstGeom>
                <a:solidFill>
                  <a:srgbClr val="2563EB"/>
                </a:solidFill>
                <a:ln w="12700">
                  <a:solidFill>
                    <a:srgbClr val="2563EB"/>
                  </a:solidFill>
                  <a:prstDash val="solid"/>
                </a:ln>
              </p:spPr>
            </p:sp>
            <p:grpSp>
              <p:nvGrpSpPr>
                <p:cNvPr id="52" name="Group 51"/>
                <p:cNvGrpSpPr/>
                <p:nvPr/>
              </p:nvGrpSpPr>
              <p:grpSpPr>
                <a:xfrm>
                  <a:off x="707136" y="3052228"/>
                  <a:ext cx="4998720" cy="560831"/>
                  <a:chOff x="707136" y="3052228"/>
                  <a:chExt cx="4998720" cy="560831"/>
                </a:xfrm>
              </p:grpSpPr>
              <p:sp>
                <p:nvSpPr>
                  <p:cNvPr id="16" name="Text 14"/>
                  <p:cNvSpPr/>
                  <p:nvPr/>
                </p:nvSpPr>
                <p:spPr>
                  <a:xfrm>
                    <a:off x="707136" y="3052228"/>
                    <a:ext cx="4998720" cy="2926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1400" b="1" dirty="0">
                        <a:solidFill>
                          <a:srgbClr val="2563EB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Flat File System</a:t>
                    </a:r>
                    <a:endParaRPr lang="en-US" sz="1400" dirty="0"/>
                  </a:p>
                </p:txBody>
              </p:sp>
              <p:sp>
                <p:nvSpPr>
                  <p:cNvPr id="17" name="Text 15"/>
                  <p:cNvSpPr/>
                  <p:nvPr/>
                </p:nvSpPr>
                <p:spPr>
                  <a:xfrm>
                    <a:off x="707136" y="3344835"/>
                    <a:ext cx="4998720" cy="26822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1200" dirty="0">
                        <a:solidFill>
                          <a:srgbClr val="64748B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No folders — files live at paths like /index.html</a:t>
                    </a:r>
                    <a:endParaRPr lang="en-US" sz="1200" dirty="0"/>
                  </a:p>
                  <a:p>
                    <a:r>
                      <a:rPr lang="en-US" sz="1200" dirty="0">
                        <a:solidFill>
                          <a:srgbClr val="64748B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/config.json  /data.csv  /logo.png</a:t>
                    </a:r>
                    <a:endParaRPr lang="en-US" sz="1200" dirty="0"/>
                  </a:p>
                </p:txBody>
              </p:sp>
            </p:grpSp>
          </p:grpSp>
          <p:grpSp>
            <p:nvGrpSpPr>
              <p:cNvPr id="57" name="Group 56"/>
              <p:cNvGrpSpPr/>
              <p:nvPr/>
            </p:nvGrpSpPr>
            <p:grpSpPr>
              <a:xfrm>
                <a:off x="487680" y="3541147"/>
                <a:ext cx="5413248" cy="652133"/>
                <a:chOff x="487680" y="3755755"/>
                <a:chExt cx="5413248" cy="652133"/>
              </a:xfrm>
            </p:grpSpPr>
            <p:grpSp>
              <p:nvGrpSpPr>
                <p:cNvPr id="56" name="Group 55"/>
                <p:cNvGrpSpPr/>
                <p:nvPr/>
              </p:nvGrpSpPr>
              <p:grpSpPr>
                <a:xfrm>
                  <a:off x="487680" y="3828288"/>
                  <a:ext cx="5413248" cy="579600"/>
                  <a:chOff x="487680" y="3828288"/>
                  <a:chExt cx="5413248" cy="579600"/>
                </a:xfrm>
              </p:grpSpPr>
              <p:sp>
                <p:nvSpPr>
                  <p:cNvPr id="18" name="Shape 16"/>
                  <p:cNvSpPr/>
                  <p:nvPr/>
                </p:nvSpPr>
                <p:spPr>
                  <a:xfrm>
                    <a:off x="487680" y="3828288"/>
                    <a:ext cx="5413248" cy="579600"/>
                  </a:xfrm>
                  <a:prstGeom prst="rect">
                    <a:avLst/>
                  </a:prstGeom>
                  <a:solidFill>
                    <a:srgbClr val="F0F8FF"/>
                  </a:solidFill>
                  <a:ln w="12700">
                    <a:solidFill>
                      <a:srgbClr val="CBD5E1"/>
                    </a:solidFill>
                    <a:prstDash val="solid"/>
                  </a:ln>
                </p:spPr>
              </p:sp>
              <p:sp>
                <p:nvSpPr>
                  <p:cNvPr id="19" name="Shape 17"/>
                  <p:cNvSpPr/>
                  <p:nvPr/>
                </p:nvSpPr>
                <p:spPr>
                  <a:xfrm>
                    <a:off x="487680" y="3828288"/>
                    <a:ext cx="85344" cy="579600"/>
                  </a:xfrm>
                  <a:prstGeom prst="rect">
                    <a:avLst/>
                  </a:prstGeom>
                  <a:solidFill>
                    <a:srgbClr val="059669"/>
                  </a:solidFill>
                  <a:ln w="12700">
                    <a:solidFill>
                      <a:srgbClr val="059669"/>
                    </a:solidFill>
                    <a:prstDash val="solid"/>
                  </a:ln>
                </p:spPr>
              </p:sp>
            </p:grpSp>
            <p:grpSp>
              <p:nvGrpSpPr>
                <p:cNvPr id="53" name="Group 52"/>
                <p:cNvGrpSpPr/>
                <p:nvPr/>
              </p:nvGrpSpPr>
              <p:grpSpPr>
                <a:xfrm>
                  <a:off x="707136" y="3755755"/>
                  <a:ext cx="4998720" cy="588824"/>
                  <a:chOff x="707136" y="3755755"/>
                  <a:chExt cx="4998720" cy="588824"/>
                </a:xfrm>
              </p:grpSpPr>
              <p:sp>
                <p:nvSpPr>
                  <p:cNvPr id="20" name="Text 18"/>
                  <p:cNvSpPr/>
                  <p:nvPr/>
                </p:nvSpPr>
                <p:spPr>
                  <a:xfrm>
                    <a:off x="707136" y="3755755"/>
                    <a:ext cx="4998720" cy="2926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1400" b="1" dirty="0">
                        <a:solidFill>
                          <a:srgbClr val="059669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Use Cases</a:t>
                    </a:r>
                    <a:endParaRPr lang="en-US" sz="1400" dirty="0"/>
                  </a:p>
                </p:txBody>
              </p:sp>
              <p:sp>
                <p:nvSpPr>
                  <p:cNvPr id="21" name="Text 19"/>
                  <p:cNvSpPr/>
                  <p:nvPr/>
                </p:nvSpPr>
                <p:spPr>
                  <a:xfrm>
                    <a:off x="707136" y="4076355"/>
                    <a:ext cx="4998720" cy="26822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r>
                      <a:rPr lang="en-US" sz="1200" dirty="0">
                        <a:solidFill>
                          <a:srgbClr val="64748B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Serve HTML/CSS/JS from ESP32 as web server,</a:t>
                    </a:r>
                    <a:endParaRPr lang="en-US" sz="1200" dirty="0"/>
                  </a:p>
                  <a:p>
                    <a:r>
                      <a:rPr lang="en-US" sz="1200" dirty="0">
                        <a:solidFill>
                          <a:srgbClr val="64748B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store sensor logs, save config settings as JSON.</a:t>
                    </a:r>
                    <a:endParaRPr lang="en-US" sz="1200" dirty="0"/>
                  </a:p>
                </p:txBody>
              </p:sp>
            </p:grpSp>
          </p:grpSp>
        </p:grpSp>
      </p:grpSp>
      <p:sp>
        <p:nvSpPr>
          <p:cNvPr id="22" name="Shape 20"/>
          <p:cNvSpPr/>
          <p:nvPr/>
        </p:nvSpPr>
        <p:spPr>
          <a:xfrm>
            <a:off x="426720" y="4207362"/>
            <a:ext cx="5547360" cy="174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6720" y="4207362"/>
            <a:ext cx="5547360" cy="390144"/>
          </a:xfrm>
          <a:prstGeom prst="rect">
            <a:avLst/>
          </a:prstGeom>
          <a:solidFill>
            <a:srgbClr val="EA580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600" y="4207362"/>
            <a:ext cx="5181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Storage Options — Quick Comparison</a:t>
            </a:r>
            <a:endParaRPr lang="en-US" sz="1400" dirty="0"/>
          </a:p>
        </p:txBody>
      </p:sp>
      <p:grpSp>
        <p:nvGrpSpPr>
          <p:cNvPr id="63" name="Group 62"/>
          <p:cNvGrpSpPr/>
          <p:nvPr/>
        </p:nvGrpSpPr>
        <p:grpSpPr>
          <a:xfrm>
            <a:off x="609600" y="4593149"/>
            <a:ext cx="5120640" cy="268224"/>
            <a:chOff x="609600" y="4658466"/>
            <a:chExt cx="5120640" cy="268224"/>
          </a:xfrm>
        </p:grpSpPr>
        <p:sp>
          <p:nvSpPr>
            <p:cNvPr id="25" name="Text 23"/>
            <p:cNvSpPr/>
            <p:nvPr/>
          </p:nvSpPr>
          <p:spPr>
            <a:xfrm>
              <a:off x="609600" y="4658466"/>
              <a:ext cx="10972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b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Type</a:t>
              </a:r>
              <a:endParaRPr lang="en-US" sz="1133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767840" y="4658466"/>
              <a:ext cx="103632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b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Size</a:t>
              </a:r>
              <a:endParaRPr lang="en-US" sz="1133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2865120" y="4658466"/>
              <a:ext cx="10972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b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Access</a:t>
              </a:r>
              <a:endParaRPr lang="en-US" sz="1133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023360" y="4658466"/>
              <a:ext cx="17068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33" b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Best For</a:t>
              </a:r>
              <a:endParaRPr lang="en-US" sz="1133" dirty="0"/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487680" y="4841963"/>
            <a:ext cx="5413248" cy="288000"/>
            <a:chOff x="487680" y="4963266"/>
            <a:chExt cx="5413248" cy="365760"/>
          </a:xfrm>
        </p:grpSpPr>
        <p:sp>
          <p:nvSpPr>
            <p:cNvPr id="29" name="Shape 27"/>
            <p:cNvSpPr/>
            <p:nvPr/>
          </p:nvSpPr>
          <p:spPr>
            <a:xfrm>
              <a:off x="487680" y="4963266"/>
              <a:ext cx="5413248" cy="365760"/>
            </a:xfrm>
            <a:prstGeom prst="rect">
              <a:avLst/>
            </a:prstGeom>
            <a:solidFill>
              <a:srgbClr val="F0F8FF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609600" y="5012034"/>
              <a:ext cx="10972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b="1" dirty="0">
                  <a:solidFill>
                    <a:srgbClr val="EF39B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EEPROM</a:t>
              </a:r>
              <a:endParaRPr lang="en-US" sz="1267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1767840" y="5012034"/>
              <a:ext cx="103632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~512 B</a:t>
              </a:r>
              <a:endParaRPr lang="en-US" sz="12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2865120" y="5012034"/>
              <a:ext cx="10972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Bytes</a:t>
              </a:r>
              <a:endParaRPr lang="en-US" sz="12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4023360" y="5012034"/>
              <a:ext cx="17068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Settings, flags</a:t>
              </a:r>
              <a:endParaRPr lang="en-US" sz="1200" dirty="0"/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487680" y="5214501"/>
            <a:ext cx="5413248" cy="288000"/>
            <a:chOff x="487680" y="5377794"/>
            <a:chExt cx="5413248" cy="365760"/>
          </a:xfrm>
        </p:grpSpPr>
        <p:sp>
          <p:nvSpPr>
            <p:cNvPr id="34" name="Shape 32"/>
            <p:cNvSpPr/>
            <p:nvPr/>
          </p:nvSpPr>
          <p:spPr>
            <a:xfrm>
              <a:off x="487680" y="5377794"/>
              <a:ext cx="5413248" cy="365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609600" y="5426562"/>
              <a:ext cx="10972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b="1" dirty="0">
                  <a:solidFill>
                    <a:srgbClr val="EA580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SPIFFS</a:t>
              </a:r>
              <a:endParaRPr lang="en-US" sz="1267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1767840" y="5426562"/>
              <a:ext cx="103632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1–3 MB</a:t>
              </a:r>
              <a:endParaRPr lang="en-US" sz="12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2865120" y="5426562"/>
              <a:ext cx="10972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Files</a:t>
              </a:r>
              <a:endParaRPr lang="en-US" sz="12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4023360" y="5426562"/>
              <a:ext cx="17068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HTML, logs, JSON</a:t>
              </a:r>
              <a:endParaRPr lang="en-US" sz="1200" dirty="0"/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487680" y="5587040"/>
            <a:ext cx="5413248" cy="288000"/>
            <a:chOff x="487680" y="5792322"/>
            <a:chExt cx="5413248" cy="365760"/>
          </a:xfrm>
        </p:grpSpPr>
        <p:sp>
          <p:nvSpPr>
            <p:cNvPr id="39" name="Shape 37"/>
            <p:cNvSpPr/>
            <p:nvPr/>
          </p:nvSpPr>
          <p:spPr>
            <a:xfrm>
              <a:off x="487680" y="5792322"/>
              <a:ext cx="5413248" cy="365760"/>
            </a:xfrm>
            <a:prstGeom prst="rect">
              <a:avLst/>
            </a:prstGeom>
            <a:solidFill>
              <a:srgbClr val="F0F8FF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609600" y="5841090"/>
              <a:ext cx="10972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 b="1" dirty="0">
                  <a:solidFill>
                    <a:srgbClr val="2563E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SD Card</a:t>
              </a:r>
              <a:endParaRPr lang="en-US" sz="1267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1767840" y="5841090"/>
              <a:ext cx="103632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GB+</a:t>
              </a:r>
              <a:endParaRPr lang="en-US" sz="12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2865120" y="5841090"/>
              <a:ext cx="10972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Files</a:t>
              </a:r>
              <a:endParaRPr lang="en-US" sz="12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4023360" y="5841090"/>
              <a:ext cx="1706880" cy="2682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Large data logging</a:t>
              </a:r>
              <a:endParaRPr lang="en-US" sz="1200" dirty="0"/>
            </a:p>
          </p:txBody>
        </p:sp>
      </p:grpSp>
      <p:sp>
        <p:nvSpPr>
          <p:cNvPr id="44" name="Shape 42"/>
          <p:cNvSpPr/>
          <p:nvPr/>
        </p:nvSpPr>
        <p:spPr>
          <a:xfrm>
            <a:off x="6217920" y="1804416"/>
            <a:ext cx="5522976" cy="492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17920" y="1804416"/>
            <a:ext cx="5522976" cy="4389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1804416"/>
            <a:ext cx="5157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SPIFFS API — Read, Write &amp; List Files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78880" y="2316480"/>
            <a:ext cx="5401056" cy="426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278880" y="2316480"/>
            <a:ext cx="5401056" cy="4267200"/>
          </a:xfrm>
          <a:prstGeom prst="rect">
            <a:avLst/>
          </a:prstGeom>
          <a:noFill/>
          <a:ln/>
        </p:spPr>
        <p:txBody>
          <a:bodyPr wrap="square" lIns="2032" tIns="2540" rIns="2540" bIns="1693" rtlCol="0" anchor="t"/>
          <a:lstStyle/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&lt;SPIFFS.h&gt;</a:t>
            </a:r>
            <a:endParaRPr lang="en-US" sz="1100" dirty="0"/>
          </a:p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SPIFFS.begin(true); // true = format if needed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WRITE a file ────────────────────</a:t>
            </a:r>
            <a:endParaRPr lang="en-US" sz="1100" dirty="0"/>
          </a:p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f = SPIFFS.open("/config.txt", "w");</a:t>
            </a:r>
            <a:endParaRPr lang="en-US" sz="1100" dirty="0"/>
          </a:p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f.println("threshold=35");</a:t>
            </a:r>
            <a:endParaRPr lang="en-US" sz="1100" dirty="0"/>
          </a:p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f.println("name=ESP32_Node1");</a:t>
            </a:r>
            <a:endParaRPr lang="en-US" sz="1100" dirty="0"/>
          </a:p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f.close();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READ a file ─────────────────────</a:t>
            </a:r>
            <a:endParaRPr lang="en-US" sz="1100" dirty="0"/>
          </a:p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f2 = SPIFFS.open("/config.txt","r");</a:t>
            </a:r>
            <a:endParaRPr lang="en-US" sz="1100" dirty="0"/>
          </a:p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(f2.available()) {</a:t>
            </a:r>
            <a:endParaRPr lang="en-US" sz="1100" dirty="0"/>
          </a:p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Serial.println(f2.readStringUntil('\n'));</a:t>
            </a:r>
            <a:endParaRPr lang="en-US" sz="1100" dirty="0"/>
          </a:p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f2.close();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LIST all files ──────────────────</a:t>
            </a:r>
            <a:endParaRPr lang="en-US" sz="1100" dirty="0"/>
          </a:p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root = SPIFFS.open("/");</a:t>
            </a:r>
            <a:endParaRPr lang="en-US" sz="1100" dirty="0"/>
          </a:p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entry = root.openNextFile();</a:t>
            </a:r>
            <a:endParaRPr lang="en-US" sz="1100" dirty="0"/>
          </a:p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(entry) {</a:t>
            </a:r>
            <a:endParaRPr lang="en-US" sz="1100" dirty="0"/>
          </a:p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Serial.printf("%s  %d bytes\n",</a:t>
            </a:r>
            <a:endParaRPr lang="en-US" sz="1100" dirty="0"/>
          </a:p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entry.name(), entry.size());</a:t>
            </a:r>
            <a:endParaRPr lang="en-US" sz="1100" dirty="0"/>
          </a:p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entry = root.openNextFile();</a:t>
            </a:r>
            <a:endParaRPr lang="en-US" sz="1100" dirty="0"/>
          </a:p>
          <a:p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38912" y="6037900"/>
            <a:ext cx="5535168" cy="692084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8381" y="6037900"/>
            <a:ext cx="5427805" cy="692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9.1 — Write + read a config.txt file  </a:t>
            </a:r>
            <a:endParaRPr lang="en-US" sz="1267" b="1" dirty="0" smtClean="0">
              <a:solidFill>
                <a:srgbClr val="EA580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67" b="1" dirty="0" smtClean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</a:t>
            </a:r>
            <a:r>
              <a:rPr lang="en-US" sz="1267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— Log DHT11 readings with timestamps to /</a:t>
            </a:r>
            <a:r>
              <a:rPr lang="en-US" sz="1267" b="1" dirty="0" smtClean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log.csv</a:t>
            </a:r>
            <a:endParaRPr lang="en-US" sz="1267" dirty="0"/>
          </a:p>
        </p:txBody>
      </p:sp>
    </p:spTree>
    <p:extLst>
      <p:ext uri="{BB962C8B-B14F-4D97-AF65-F5344CB8AC3E}">
        <p14:creationId xmlns:p14="http://schemas.microsoft.com/office/powerpoint/2010/main" val="194024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0" y="-609600"/>
            <a:ext cx="6339840" cy="670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9333" b="1" dirty="0">
                <a:solidFill>
                  <a:srgbClr val="FFFFFF">
                    <a:alpha val="2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29333" dirty="0"/>
          </a:p>
        </p:txBody>
      </p:sp>
      <p:sp>
        <p:nvSpPr>
          <p:cNvPr id="3" name="Shape 1"/>
          <p:cNvSpPr/>
          <p:nvPr/>
        </p:nvSpPr>
        <p:spPr>
          <a:xfrm>
            <a:off x="463296" y="463296"/>
            <a:ext cx="1341120" cy="3657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463296"/>
            <a:ext cx="134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2563EB"/>
                </a:solidFill>
              </a:rPr>
              <a:t>DAY 2</a:t>
            </a:r>
            <a:endParaRPr lang="en-US" sz="1267" dirty="0"/>
          </a:p>
        </p:txBody>
      </p:sp>
      <p:sp>
        <p:nvSpPr>
          <p:cNvPr id="5" name="Text 3"/>
          <p:cNvSpPr/>
          <p:nvPr/>
        </p:nvSpPr>
        <p:spPr>
          <a:xfrm>
            <a:off x="463296" y="1097280"/>
            <a:ext cx="85344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463296" y="1645920"/>
            <a:ext cx="97536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IoT &amp;</a:t>
            </a:r>
            <a:endParaRPr lang="en-US" sz="5600" dirty="0"/>
          </a:p>
          <a:p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Server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63296" y="4511040"/>
            <a:ext cx="975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Modes  •  HTTP Server  •  Live Dashboard  •  Remote Control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6461760"/>
            <a:ext cx="12192000" cy="3962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296" y="6461760"/>
            <a:ext cx="1126540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Embedded Systems Workshop</a:t>
            </a:r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86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3296" y="219456"/>
            <a:ext cx="2072640" cy="36576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219456"/>
            <a:ext cx="207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2563EB"/>
                </a:solidFill>
              </a:rPr>
              <a:t>MODULE 9</a:t>
            </a:r>
            <a:endParaRPr lang="en-US" sz="1133" dirty="0"/>
          </a:p>
        </p:txBody>
      </p:sp>
      <p:sp>
        <p:nvSpPr>
          <p:cNvPr id="5" name="Text 3"/>
          <p:cNvSpPr/>
          <p:nvPr/>
        </p:nvSpPr>
        <p:spPr>
          <a:xfrm>
            <a:off x="463296" y="707136"/>
            <a:ext cx="11265408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ESP32 Wi-Fi &amp; HTTP Server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63296" y="1463040"/>
            <a:ext cx="1126540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 Mode  •  AP Mode  •  HTTP Request/Response  •  Remote Control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6720" y="1804416"/>
            <a:ext cx="5547360" cy="3267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6720" y="1804416"/>
            <a:ext cx="554736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1804416"/>
            <a:ext cx="518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Wi-Fi Modes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7680" y="2389632"/>
            <a:ext cx="85344" cy="670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5904" y="2414016"/>
            <a:ext cx="5059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 (Station)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755904" y="2755392"/>
            <a:ext cx="50596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existing Wi-Fi. Gets IP from router.</a:t>
            </a:r>
            <a:endParaRPr lang="en-US" sz="1267" dirty="0"/>
          </a:p>
        </p:txBody>
      </p:sp>
      <p:sp>
        <p:nvSpPr>
          <p:cNvPr id="13" name="Shape 11"/>
          <p:cNvSpPr/>
          <p:nvPr/>
        </p:nvSpPr>
        <p:spPr>
          <a:xfrm>
            <a:off x="487680" y="3218688"/>
            <a:ext cx="85344" cy="670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5904" y="3243072"/>
            <a:ext cx="5059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(Access Point)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755904" y="3584448"/>
            <a:ext cx="50596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its OWN hotspot. Phone connects to ESP32 directly.</a:t>
            </a:r>
            <a:endParaRPr lang="en-US" sz="1267" dirty="0"/>
          </a:p>
        </p:txBody>
      </p:sp>
      <p:sp>
        <p:nvSpPr>
          <p:cNvPr id="16" name="Shape 14"/>
          <p:cNvSpPr/>
          <p:nvPr/>
        </p:nvSpPr>
        <p:spPr>
          <a:xfrm>
            <a:off x="487680" y="4047744"/>
            <a:ext cx="85344" cy="670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904" y="4072128"/>
            <a:ext cx="5059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STA+AP (Both)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755904" y="4413504"/>
            <a:ext cx="50596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router AND hosting hotspot simultaneously.</a:t>
            </a:r>
            <a:endParaRPr lang="en-US" sz="1267" dirty="0"/>
          </a:p>
        </p:txBody>
      </p:sp>
      <p:sp>
        <p:nvSpPr>
          <p:cNvPr id="19" name="Shape 17"/>
          <p:cNvSpPr/>
          <p:nvPr/>
        </p:nvSpPr>
        <p:spPr>
          <a:xfrm>
            <a:off x="6217920" y="1804416"/>
            <a:ext cx="5510784" cy="3267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804416"/>
            <a:ext cx="5510784" cy="438912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804416"/>
            <a:ext cx="514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HTTP Request / Response Cycle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2438400"/>
            <a:ext cx="341376" cy="341376"/>
          </a:xfrm>
          <a:prstGeom prst="rect">
            <a:avLst/>
          </a:prstGeom>
          <a:solidFill>
            <a:srgbClr val="12BFFF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51904" y="24627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sends:</a:t>
            </a:r>
            <a:endParaRPr lang="en-US" sz="1267" dirty="0"/>
          </a:p>
        </p:txBody>
      </p:sp>
      <p:sp>
        <p:nvSpPr>
          <p:cNvPr id="25" name="Text 23"/>
          <p:cNvSpPr/>
          <p:nvPr/>
        </p:nvSpPr>
        <p:spPr>
          <a:xfrm>
            <a:off x="8558784" y="2462784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/sensor HTTP/1.1</a:t>
            </a:r>
            <a:endParaRPr lang="en-US" sz="1267" dirty="0"/>
          </a:p>
        </p:txBody>
      </p:sp>
      <p:sp>
        <p:nvSpPr>
          <p:cNvPr id="27" name="Text 25"/>
          <p:cNvSpPr/>
          <p:nvPr/>
        </p:nvSpPr>
        <p:spPr>
          <a:xfrm>
            <a:off x="6400800" y="3072384"/>
            <a:ext cx="341376" cy="341376"/>
          </a:xfrm>
          <a:prstGeom prst="rect">
            <a:avLst/>
          </a:prstGeom>
          <a:solidFill>
            <a:srgbClr val="12BFFF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51904" y="3096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receives:</a:t>
            </a:r>
            <a:endParaRPr lang="en-US" sz="1267" dirty="0"/>
          </a:p>
        </p:txBody>
      </p:sp>
      <p:sp>
        <p:nvSpPr>
          <p:cNvPr id="29" name="Text 27"/>
          <p:cNvSpPr/>
          <p:nvPr/>
        </p:nvSpPr>
        <p:spPr>
          <a:xfrm>
            <a:off x="8558784" y="3096768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server.handleClient()</a:t>
            </a:r>
            <a:endParaRPr lang="en-US" sz="1267" dirty="0"/>
          </a:p>
        </p:txBody>
      </p:sp>
      <p:sp>
        <p:nvSpPr>
          <p:cNvPr id="31" name="Text 29"/>
          <p:cNvSpPr/>
          <p:nvPr/>
        </p:nvSpPr>
        <p:spPr>
          <a:xfrm>
            <a:off x="6400800" y="3706368"/>
            <a:ext cx="341376" cy="341376"/>
          </a:xfrm>
          <a:prstGeom prst="rect">
            <a:avLst/>
          </a:prstGeom>
          <a:solidFill>
            <a:srgbClr val="12BFFF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51904" y="37307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responds:</a:t>
            </a:r>
            <a:endParaRPr lang="en-US" sz="1267" dirty="0"/>
          </a:p>
        </p:txBody>
      </p:sp>
      <p:sp>
        <p:nvSpPr>
          <p:cNvPr id="33" name="Text 31"/>
          <p:cNvSpPr/>
          <p:nvPr/>
        </p:nvSpPr>
        <p:spPr>
          <a:xfrm>
            <a:off x="8558784" y="3730752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with sensor values</a:t>
            </a:r>
            <a:endParaRPr lang="en-US" sz="1267" dirty="0"/>
          </a:p>
        </p:txBody>
      </p:sp>
      <p:sp>
        <p:nvSpPr>
          <p:cNvPr id="35" name="Text 33"/>
          <p:cNvSpPr/>
          <p:nvPr/>
        </p:nvSpPr>
        <p:spPr>
          <a:xfrm>
            <a:off x="6400800" y="4340352"/>
            <a:ext cx="341376" cy="341376"/>
          </a:xfrm>
          <a:prstGeom prst="rect">
            <a:avLst/>
          </a:prstGeom>
          <a:solidFill>
            <a:srgbClr val="12BFFF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51904" y="436473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renders:</a:t>
            </a:r>
            <a:endParaRPr lang="en-US" sz="1267" dirty="0"/>
          </a:p>
        </p:txBody>
      </p:sp>
      <p:sp>
        <p:nvSpPr>
          <p:cNvPr id="37" name="Text 35"/>
          <p:cNvSpPr/>
          <p:nvPr/>
        </p:nvSpPr>
        <p:spPr>
          <a:xfrm>
            <a:off x="8558784" y="4364736"/>
            <a:ext cx="298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dashboard appears!</a:t>
            </a:r>
            <a:endParaRPr lang="en-US" sz="1267" dirty="0"/>
          </a:p>
        </p:txBody>
      </p:sp>
      <p:sp>
        <p:nvSpPr>
          <p:cNvPr id="38" name="Shape 36"/>
          <p:cNvSpPr/>
          <p:nvPr/>
        </p:nvSpPr>
        <p:spPr>
          <a:xfrm>
            <a:off x="426720" y="5169408"/>
            <a:ext cx="11314176" cy="463296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9600" y="5205984"/>
            <a:ext cx="11094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 smtClean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ADC2 + Wi-Fi Conflict: GPIO 0,2,4,12-15,25-27 unreliable when Wi-Fi is ON — always use ADC1 (GPIO 32-39).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26720" y="5730240"/>
            <a:ext cx="11314176" cy="99974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26720" y="5730240"/>
            <a:ext cx="11314176" cy="999744"/>
          </a:xfrm>
          <a:prstGeom prst="rect">
            <a:avLst/>
          </a:prstGeom>
          <a:noFill/>
          <a:ln/>
        </p:spPr>
        <p:txBody>
          <a:bodyPr wrap="square" lIns="2032" tIns="2540" rIns="2540" bIns="1693" rtlCol="0" anchor="t"/>
          <a:lstStyle/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WiFi.begin("WorkshopSSID", "password");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(WiFi.status() != WL_CONNECTED) { delay(500); }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Serial.println(WiFi.localIP());   // e.g. 192.168.1.105 — open in phone browser!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server.on("/", handleRoot);  server.on("/led/on", handleLEDon);  server.begin();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306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3296" y="219456"/>
            <a:ext cx="2072640" cy="36576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219456"/>
            <a:ext cx="207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2563EB"/>
                </a:solidFill>
              </a:rPr>
              <a:t>MODULE 9 — EXERCISES</a:t>
            </a:r>
            <a:endParaRPr lang="en-US" sz="1133" dirty="0"/>
          </a:p>
        </p:txBody>
      </p:sp>
      <p:sp>
        <p:nvSpPr>
          <p:cNvPr id="5" name="Text 3"/>
          <p:cNvSpPr/>
          <p:nvPr/>
        </p:nvSpPr>
        <p:spPr>
          <a:xfrm>
            <a:off x="463296" y="707136"/>
            <a:ext cx="11265408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Your IoT Dashboard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63296" y="1361440"/>
            <a:ext cx="1126540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'Hello World' to live sensor control — step by step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6720" y="1731264"/>
            <a:ext cx="554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6720" y="1731264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0" y="1853184"/>
            <a:ext cx="633984" cy="316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0" y="1853184"/>
            <a:ext cx="63398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Ex 9.1</a:t>
            </a:r>
            <a:endParaRPr lang="en-US" sz="1067" dirty="0"/>
          </a:p>
        </p:txBody>
      </p:sp>
      <p:sp>
        <p:nvSpPr>
          <p:cNvPr id="11" name="Text 9"/>
          <p:cNvSpPr/>
          <p:nvPr/>
        </p:nvSpPr>
        <p:spPr>
          <a:xfrm>
            <a:off x="1341120" y="1828800"/>
            <a:ext cx="445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 to Wi-Fi &amp; Get IP</a:t>
            </a:r>
            <a:endParaRPr lang="en-US" sz="1533" dirty="0"/>
          </a:p>
        </p:txBody>
      </p:sp>
      <p:sp>
        <p:nvSpPr>
          <p:cNvPr id="12" name="Text 10"/>
          <p:cNvSpPr/>
          <p:nvPr/>
        </p:nvSpPr>
        <p:spPr>
          <a:xfrm>
            <a:off x="1341120" y="2267712"/>
            <a:ext cx="4450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workshop Wi-Fi. Print IP. Open http://[IP] in phone browser.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6156960" y="1731264"/>
            <a:ext cx="554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56960" y="1731264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9840" y="1853184"/>
            <a:ext cx="633984" cy="316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9840" y="1853184"/>
            <a:ext cx="63398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Ex 9.2</a:t>
            </a:r>
            <a:endParaRPr lang="en-US" sz="1067" dirty="0"/>
          </a:p>
        </p:txBody>
      </p:sp>
      <p:sp>
        <p:nvSpPr>
          <p:cNvPr id="17" name="Text 15"/>
          <p:cNvSpPr/>
          <p:nvPr/>
        </p:nvSpPr>
        <p:spPr>
          <a:xfrm>
            <a:off x="7071360" y="1828800"/>
            <a:ext cx="445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Serve a Web Page</a:t>
            </a:r>
            <a:endParaRPr lang="en-US" sz="1533" dirty="0"/>
          </a:p>
        </p:txBody>
      </p:sp>
      <p:sp>
        <p:nvSpPr>
          <p:cNvPr id="18" name="Text 16"/>
          <p:cNvSpPr/>
          <p:nvPr/>
        </p:nvSpPr>
        <p:spPr>
          <a:xfrm>
            <a:off x="7071360" y="2267712"/>
            <a:ext cx="4450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&lt;h1&gt;Hello from ESP32!&lt;/h1&gt;. Style with inline CSS. View in browser.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426720" y="2987040"/>
            <a:ext cx="554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2BFFF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6720" y="2987040"/>
            <a:ext cx="73152" cy="1097280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600" y="3108960"/>
            <a:ext cx="633984" cy="316992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600" y="3108960"/>
            <a:ext cx="63398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Ex 9.3</a:t>
            </a:r>
            <a:endParaRPr lang="en-US" sz="1067" dirty="0"/>
          </a:p>
        </p:txBody>
      </p:sp>
      <p:sp>
        <p:nvSpPr>
          <p:cNvPr id="23" name="Text 21"/>
          <p:cNvSpPr/>
          <p:nvPr/>
        </p:nvSpPr>
        <p:spPr>
          <a:xfrm>
            <a:off x="1341120" y="3084576"/>
            <a:ext cx="445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Sensor Dashboard</a:t>
            </a:r>
            <a:endParaRPr lang="en-US" sz="1533" dirty="0"/>
          </a:p>
        </p:txBody>
      </p:sp>
      <p:sp>
        <p:nvSpPr>
          <p:cNvPr id="24" name="Text 22"/>
          <p:cNvSpPr/>
          <p:nvPr/>
        </p:nvSpPr>
        <p:spPr>
          <a:xfrm>
            <a:off x="1341120" y="3523488"/>
            <a:ext cx="4450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every 3s. Show Temp, Humidity, Light%, Motion with color coding.</a:t>
            </a:r>
            <a:endParaRPr lang="en-US" sz="1333" dirty="0"/>
          </a:p>
        </p:txBody>
      </p:sp>
      <p:sp>
        <p:nvSpPr>
          <p:cNvPr id="25" name="Shape 23"/>
          <p:cNvSpPr/>
          <p:nvPr/>
        </p:nvSpPr>
        <p:spPr>
          <a:xfrm>
            <a:off x="6156960" y="2987040"/>
            <a:ext cx="554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2BFFF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56960" y="2987040"/>
            <a:ext cx="73152" cy="1097280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39840" y="3108960"/>
            <a:ext cx="633984" cy="316992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9840" y="3108960"/>
            <a:ext cx="63398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Ex 9.4</a:t>
            </a:r>
            <a:endParaRPr lang="en-US" sz="1067" dirty="0"/>
          </a:p>
        </p:txBody>
      </p:sp>
      <p:sp>
        <p:nvSpPr>
          <p:cNvPr id="29" name="Text 27"/>
          <p:cNvSpPr/>
          <p:nvPr/>
        </p:nvSpPr>
        <p:spPr>
          <a:xfrm>
            <a:off x="7071360" y="3084576"/>
            <a:ext cx="445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Remote Hardware Control</a:t>
            </a:r>
            <a:endParaRPr lang="en-US" sz="1533" dirty="0"/>
          </a:p>
        </p:txBody>
      </p:sp>
      <p:sp>
        <p:nvSpPr>
          <p:cNvPr id="30" name="Text 28"/>
          <p:cNvSpPr/>
          <p:nvPr/>
        </p:nvSpPr>
        <p:spPr>
          <a:xfrm>
            <a:off x="7071360" y="3523488"/>
            <a:ext cx="4450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[LED ON] [LED OFF] [Buzz] buttons. Click in browser → hardware responds.</a:t>
            </a:r>
            <a:endParaRPr lang="en-US" sz="1333" dirty="0"/>
          </a:p>
        </p:txBody>
      </p:sp>
      <p:sp>
        <p:nvSpPr>
          <p:cNvPr id="31" name="Shape 29"/>
          <p:cNvSpPr/>
          <p:nvPr/>
        </p:nvSpPr>
        <p:spPr>
          <a:xfrm>
            <a:off x="426720" y="4242816"/>
            <a:ext cx="11314176" cy="2499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6720" y="4242816"/>
            <a:ext cx="11314176" cy="463296"/>
          </a:xfrm>
          <a:prstGeom prst="rect">
            <a:avLst/>
          </a:prstGeom>
          <a:solidFill>
            <a:srgbClr val="2563E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9600" y="4242816"/>
            <a:ext cx="1097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🌐  Ex 9.5 — Complete IoT </a:t>
            </a: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97280" y="4888992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sensor readings live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876800" y="4888992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every 3s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56320" y="4888992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ON/OFF + Buzz buttons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97280" y="5559552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counter via millis()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876800" y="5559552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ALERT status indicator</a:t>
            </a:r>
            <a:endParaRPr lang="en-US" sz="1400" dirty="0"/>
          </a:p>
        </p:txBody>
      </p:sp>
      <p:sp>
        <p:nvSpPr>
          <p:cNvPr id="44" name="Text 21"/>
          <p:cNvSpPr/>
          <p:nvPr/>
        </p:nvSpPr>
        <p:spPr>
          <a:xfrm>
            <a:off x="670560" y="4901184"/>
            <a:ext cx="341376" cy="3413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5" name="Text 21"/>
          <p:cNvSpPr/>
          <p:nvPr/>
        </p:nvSpPr>
        <p:spPr>
          <a:xfrm>
            <a:off x="670560" y="5571744"/>
            <a:ext cx="341376" cy="3413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4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6" name="Text 21"/>
          <p:cNvSpPr/>
          <p:nvPr/>
        </p:nvSpPr>
        <p:spPr>
          <a:xfrm>
            <a:off x="4451413" y="4909248"/>
            <a:ext cx="341376" cy="3413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7" name="Text 21"/>
          <p:cNvSpPr/>
          <p:nvPr/>
        </p:nvSpPr>
        <p:spPr>
          <a:xfrm>
            <a:off x="4451413" y="5579808"/>
            <a:ext cx="341376" cy="3413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5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8" name="Text 21"/>
          <p:cNvSpPr/>
          <p:nvPr/>
        </p:nvSpPr>
        <p:spPr>
          <a:xfrm>
            <a:off x="8227693" y="4909248"/>
            <a:ext cx="341376" cy="3413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3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89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2316480"/>
            <a:ext cx="109728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66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LUNCH</a:t>
            </a:r>
            <a:endParaRPr lang="en-US" sz="10666" dirty="0"/>
          </a:p>
        </p:txBody>
      </p:sp>
      <p:sp>
        <p:nvSpPr>
          <p:cNvPr id="6" name="Text 4"/>
          <p:cNvSpPr/>
          <p:nvPr/>
        </p:nvSpPr>
        <p:spPr>
          <a:xfrm>
            <a:off x="1219200" y="3779520"/>
            <a:ext cx="975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 •  Back at </a:t>
            </a:r>
            <a:r>
              <a:rPr lang="en-US" sz="2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14:45 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0" y="4535424"/>
            <a:ext cx="8534400" cy="176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0" y="4535424"/>
            <a:ext cx="8534400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4535424"/>
            <a:ext cx="853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THE CHALLENGE BEGINS AT 15:00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5059680"/>
            <a:ext cx="8534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code  •  Discuss strategy  •  Refresh the concepts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5510784"/>
            <a:ext cx="85344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tools during the challenge — documentation only!</a:t>
            </a:r>
            <a:endParaRPr lang="en-US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51553" y="435356"/>
            <a:ext cx="1695347" cy="169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790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219456"/>
            <a:ext cx="11265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067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THE TEAM CHALLENGE</a:t>
            </a:r>
            <a:endParaRPr lang="en-US" sz="5067" dirty="0"/>
          </a:p>
        </p:txBody>
      </p:sp>
      <p:sp>
        <p:nvSpPr>
          <p:cNvPr id="5" name="Text 3"/>
          <p:cNvSpPr/>
          <p:nvPr/>
        </p:nvSpPr>
        <p:spPr>
          <a:xfrm>
            <a:off x="463296" y="1048512"/>
            <a:ext cx="1126540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&amp; Logic Sprint  •  33 Teams  •  75 Minutes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426720" y="1560576"/>
            <a:ext cx="11314176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2BFFF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6720" y="1560576"/>
            <a:ext cx="11314176" cy="438912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156057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FORMAT: Complete all 3 challenges in sequence (C1 → C2 → C3)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0560" y="207264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team to have all 3 judge-verified wins. Ranked by: challenges completed → time of last judge stamp.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426720" y="2926080"/>
            <a:ext cx="566928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6720" y="2926080"/>
            <a:ext cx="73152" cy="670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176" y="2974848"/>
            <a:ext cx="28041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Internet docs ALLOWED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6176" y="3291840"/>
            <a:ext cx="5303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Datasheets, Arduino reference, Stack Overflow — use them!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39840" y="2926080"/>
            <a:ext cx="5388864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39840" y="2926080"/>
            <a:ext cx="73152" cy="67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9296" y="2974848"/>
            <a:ext cx="28041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No Generative 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59296" y="3291840"/>
            <a:ext cx="5303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Copilot, Gemini banned — violation = disqualification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6720" y="3706368"/>
            <a:ext cx="566928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6720" y="3706368"/>
            <a:ext cx="73152" cy="670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176" y="3755136"/>
            <a:ext cx="28041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🔩  Kit components only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6176" y="4072128"/>
            <a:ext cx="5303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libraries beyond workshop-used ones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39840" y="3706368"/>
            <a:ext cx="539496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39840" y="3706368"/>
            <a:ext cx="73152" cy="670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9296" y="3755136"/>
            <a:ext cx="28041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Every member must explain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59296" y="4072128"/>
            <a:ext cx="5303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will ask any member about any part of the code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6720" y="4535424"/>
            <a:ext cx="11314176" cy="75590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6720" y="4535424"/>
            <a:ext cx="73152" cy="7559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0560" y="4681728"/>
            <a:ext cx="46329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Judge's call is final</a:t>
            </a:r>
            <a:endParaRPr lang="en-US" sz="1467" dirty="0"/>
          </a:p>
        </p:txBody>
      </p:sp>
      <p:sp>
        <p:nvSpPr>
          <p:cNvPr id="29" name="Text 27"/>
          <p:cNvSpPr/>
          <p:nvPr/>
        </p:nvSpPr>
        <p:spPr>
          <a:xfrm>
            <a:off x="5364480" y="4681728"/>
            <a:ext cx="62179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must work on demand — not just once in the past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26720" y="5413248"/>
            <a:ext cx="11314176" cy="463296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9600" y="5449824"/>
            <a:ext cx="1109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⏰  Problems revealed at 15:00 — CLOCK STARTS</a:t>
            </a:r>
            <a:endParaRPr lang="en-US" sz="1733" dirty="0"/>
          </a:p>
        </p:txBody>
      </p:sp>
    </p:spTree>
    <p:extLst>
      <p:ext uri="{BB962C8B-B14F-4D97-AF65-F5344CB8AC3E}">
        <p14:creationId xmlns:p14="http://schemas.microsoft.com/office/powerpoint/2010/main" val="429159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219456"/>
            <a:ext cx="26822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3296" y="609600"/>
            <a:ext cx="1097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67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Watchdog</a:t>
            </a:r>
            <a:endParaRPr lang="en-US" sz="5067" dirty="0"/>
          </a:p>
        </p:txBody>
      </p:sp>
      <p:sp>
        <p:nvSpPr>
          <p:cNvPr id="6" name="Text 4"/>
          <p:cNvSpPr/>
          <p:nvPr/>
        </p:nvSpPr>
        <p:spPr>
          <a:xfrm>
            <a:off x="463296" y="1487424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+ Interrupt Logic  •  Est. 12–18 min for fast teams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6720" y="1950720"/>
            <a:ext cx="1131417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6720" y="1950720"/>
            <a:ext cx="11314176" cy="414528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1950720"/>
            <a:ext cx="109728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3-State System — Must behave EXACTLY as described: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609600" y="2438400"/>
            <a:ext cx="15849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33" dirty="0"/>
          </a:p>
        </p:txBody>
      </p:sp>
      <p:sp>
        <p:nvSpPr>
          <p:cNvPr id="11" name="Text 9"/>
          <p:cNvSpPr/>
          <p:nvPr/>
        </p:nvSpPr>
        <p:spPr>
          <a:xfrm>
            <a:off x="2377440" y="2438400"/>
            <a:ext cx="3169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Condition</a:t>
            </a:r>
            <a:endParaRPr lang="en-US" sz="1133" dirty="0"/>
          </a:p>
        </p:txBody>
      </p:sp>
      <p:sp>
        <p:nvSpPr>
          <p:cNvPr id="12" name="Text 10"/>
          <p:cNvSpPr/>
          <p:nvPr/>
        </p:nvSpPr>
        <p:spPr>
          <a:xfrm>
            <a:off x="5669280" y="2438400"/>
            <a:ext cx="3169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Behavior</a:t>
            </a:r>
            <a:endParaRPr lang="en-US" sz="1133" dirty="0"/>
          </a:p>
        </p:txBody>
      </p:sp>
      <p:sp>
        <p:nvSpPr>
          <p:cNvPr id="13" name="Text 11"/>
          <p:cNvSpPr/>
          <p:nvPr/>
        </p:nvSpPr>
        <p:spPr>
          <a:xfrm>
            <a:off x="8961120" y="2438400"/>
            <a:ext cx="2560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133" dirty="0"/>
          </a:p>
        </p:txBody>
      </p:sp>
      <p:sp>
        <p:nvSpPr>
          <p:cNvPr id="14" name="Shape 12"/>
          <p:cNvSpPr/>
          <p:nvPr/>
        </p:nvSpPr>
        <p:spPr>
          <a:xfrm>
            <a:off x="487680" y="2755392"/>
            <a:ext cx="11192256" cy="426720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" y="28163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 smtClean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</a:t>
            </a:r>
            <a:r>
              <a:rPr lang="en-US" sz="1267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267" dirty="0"/>
          </a:p>
        </p:txBody>
      </p:sp>
      <p:sp>
        <p:nvSpPr>
          <p:cNvPr id="16" name="Text 14"/>
          <p:cNvSpPr/>
          <p:nvPr/>
        </p:nvSpPr>
        <p:spPr>
          <a:xfrm>
            <a:off x="2377440" y="2816352"/>
            <a:ext cx="316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start / after button reset</a:t>
            </a:r>
            <a:endParaRPr lang="en-US" sz="1267" dirty="0"/>
          </a:p>
        </p:txBody>
      </p:sp>
      <p:sp>
        <p:nvSpPr>
          <p:cNvPr id="17" name="Text 15"/>
          <p:cNvSpPr/>
          <p:nvPr/>
        </p:nvSpPr>
        <p:spPr>
          <a:xfrm>
            <a:off x="5669280" y="2816352"/>
            <a:ext cx="316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blink 1s ON / 1s OFF</a:t>
            </a:r>
            <a:endParaRPr lang="en-US" sz="1267" dirty="0"/>
          </a:p>
        </p:txBody>
      </p:sp>
      <p:sp>
        <p:nvSpPr>
          <p:cNvPr id="18" name="Text 16"/>
          <p:cNvSpPr/>
          <p:nvPr/>
        </p:nvSpPr>
        <p:spPr>
          <a:xfrm>
            <a:off x="8961120" y="28163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</a:t>
            </a:r>
            <a:endParaRPr lang="en-US" sz="1267" dirty="0"/>
          </a:p>
        </p:txBody>
      </p:sp>
      <p:sp>
        <p:nvSpPr>
          <p:cNvPr id="19" name="Shape 17"/>
          <p:cNvSpPr/>
          <p:nvPr/>
        </p:nvSpPr>
        <p:spPr>
          <a:xfrm>
            <a:off x="487680" y="3230880"/>
            <a:ext cx="11192256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600" y="32918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 smtClean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WARNING</a:t>
            </a:r>
            <a:endParaRPr lang="en-US" sz="1267" dirty="0"/>
          </a:p>
        </p:txBody>
      </p:sp>
      <p:sp>
        <p:nvSpPr>
          <p:cNvPr id="21" name="Text 19"/>
          <p:cNvSpPr/>
          <p:nvPr/>
        </p:nvSpPr>
        <p:spPr>
          <a:xfrm>
            <a:off x="2377440" y="3291840"/>
            <a:ext cx="316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detects object</a:t>
            </a:r>
            <a:endParaRPr lang="en-US" sz="1267" dirty="0"/>
          </a:p>
        </p:txBody>
      </p:sp>
      <p:sp>
        <p:nvSpPr>
          <p:cNvPr id="22" name="Text 20"/>
          <p:cNvSpPr/>
          <p:nvPr/>
        </p:nvSpPr>
        <p:spPr>
          <a:xfrm>
            <a:off x="5669280" y="3291840"/>
            <a:ext cx="316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blink 200ms ON / 200ms OFF</a:t>
            </a:r>
            <a:endParaRPr lang="en-US" sz="1267" dirty="0"/>
          </a:p>
        </p:txBody>
      </p:sp>
      <p:sp>
        <p:nvSpPr>
          <p:cNvPr id="23" name="Text 21"/>
          <p:cNvSpPr/>
          <p:nvPr/>
        </p:nvSpPr>
        <p:spPr>
          <a:xfrm>
            <a:off x="8961120" y="3291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beep every 2s</a:t>
            </a:r>
            <a:endParaRPr lang="en-US" sz="1267" dirty="0"/>
          </a:p>
        </p:txBody>
      </p:sp>
      <p:sp>
        <p:nvSpPr>
          <p:cNvPr id="24" name="Shape 22"/>
          <p:cNvSpPr/>
          <p:nvPr/>
        </p:nvSpPr>
        <p:spPr>
          <a:xfrm>
            <a:off x="487680" y="3706368"/>
            <a:ext cx="11192256" cy="426720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600" y="37673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ALARM</a:t>
            </a:r>
            <a:endParaRPr lang="en-US" sz="1267" dirty="0"/>
          </a:p>
        </p:txBody>
      </p:sp>
      <p:sp>
        <p:nvSpPr>
          <p:cNvPr id="26" name="Text 24"/>
          <p:cNvSpPr/>
          <p:nvPr/>
        </p:nvSpPr>
        <p:spPr>
          <a:xfrm>
            <a:off x="2377440" y="3767328"/>
            <a:ext cx="316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detected &gt; 5 continuous seconds</a:t>
            </a:r>
            <a:endParaRPr lang="en-US" sz="1267" dirty="0"/>
          </a:p>
        </p:txBody>
      </p:sp>
      <p:sp>
        <p:nvSpPr>
          <p:cNvPr id="27" name="Text 25"/>
          <p:cNvSpPr/>
          <p:nvPr/>
        </p:nvSpPr>
        <p:spPr>
          <a:xfrm>
            <a:off x="5669280" y="3767328"/>
            <a:ext cx="316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ON — no blink</a:t>
            </a:r>
            <a:endParaRPr lang="en-US" sz="1267" dirty="0"/>
          </a:p>
        </p:txBody>
      </p:sp>
      <p:sp>
        <p:nvSpPr>
          <p:cNvPr id="28" name="Text 26"/>
          <p:cNvSpPr/>
          <p:nvPr/>
        </p:nvSpPr>
        <p:spPr>
          <a:xfrm>
            <a:off x="8961120" y="3767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beep 100ms/100ms</a:t>
            </a:r>
            <a:endParaRPr lang="en-US" sz="1267" dirty="0"/>
          </a:p>
        </p:txBody>
      </p:sp>
      <p:sp>
        <p:nvSpPr>
          <p:cNvPr id="29" name="Shape 27"/>
          <p:cNvSpPr/>
          <p:nvPr/>
        </p:nvSpPr>
        <p:spPr>
          <a:xfrm>
            <a:off x="426720" y="4413504"/>
            <a:ext cx="5547360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6720" y="4413504"/>
            <a:ext cx="5547360" cy="3901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9600" y="4413504"/>
            <a:ext cx="5181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Additional Rules</a:t>
            </a:r>
            <a:endParaRPr lang="en-US" sz="1467" dirty="0"/>
          </a:p>
        </p:txBody>
      </p:sp>
      <p:sp>
        <p:nvSpPr>
          <p:cNvPr id="32" name="Text 30"/>
          <p:cNvSpPr/>
          <p:nvPr/>
        </p:nvSpPr>
        <p:spPr>
          <a:xfrm>
            <a:off x="609600" y="4876800"/>
            <a:ext cx="5181600" cy="1780032"/>
          </a:xfrm>
          <a:prstGeom prst="rect">
            <a:avLst/>
          </a:prstGeom>
          <a:noFill/>
          <a:ln/>
        </p:spPr>
        <p:txBody>
          <a:bodyPr wrap="square" lIns="1355" tIns="2540" rIns="2540" bIns="1355" rtlCol="0" anchor="t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timing via millis() — NO delay() anywhere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= RESET interrupt (any state → IDLE)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prints every transition: 'STATE: WARNING→ALARM | T=12340ms'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removed in WARNING before 5s → back to IDLE</a:t>
            </a:r>
            <a:endParaRPr lang="en-US" sz="1333" dirty="0"/>
          </a:p>
        </p:txBody>
      </p:sp>
      <p:sp>
        <p:nvSpPr>
          <p:cNvPr id="33" name="Shape 31"/>
          <p:cNvSpPr/>
          <p:nvPr/>
        </p:nvSpPr>
        <p:spPr>
          <a:xfrm>
            <a:off x="6193536" y="4413504"/>
            <a:ext cx="5547360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93536" y="4413504"/>
            <a:ext cx="5547360" cy="3901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6416" y="4413504"/>
            <a:ext cx="5181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Judge Verification</a:t>
            </a:r>
            <a:endParaRPr lang="en-US" sz="1467" dirty="0"/>
          </a:p>
        </p:txBody>
      </p:sp>
      <p:sp>
        <p:nvSpPr>
          <p:cNvPr id="36" name="Text 34"/>
          <p:cNvSpPr/>
          <p:nvPr/>
        </p:nvSpPr>
        <p:spPr>
          <a:xfrm>
            <a:off x="6376416" y="4876800"/>
            <a:ext cx="5181600" cy="1780032"/>
          </a:xfrm>
          <a:prstGeom prst="rect">
            <a:avLst/>
          </a:prstGeom>
          <a:noFill/>
          <a:ln/>
        </p:spPr>
        <p:txBody>
          <a:bodyPr wrap="square" lIns="1355" tIns="2540" rIns="2540" bIns="1355" rtlCol="0" anchor="t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IR → verify WARNING blink rate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IR 6s → verify ALARM escalation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button → verify IDLE reset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Serial for correct transition logs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Draw the state machine diagram now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218405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219456"/>
            <a:ext cx="26822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3296" y="609600"/>
            <a:ext cx="1097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67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Vault</a:t>
            </a:r>
            <a:endParaRPr lang="en-US" sz="5067" dirty="0"/>
          </a:p>
        </p:txBody>
      </p:sp>
      <p:sp>
        <p:nvSpPr>
          <p:cNvPr id="6" name="Text 4"/>
          <p:cNvSpPr/>
          <p:nvPr/>
        </p:nvSpPr>
        <p:spPr>
          <a:xfrm>
            <a:off x="463296" y="1487424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Lock Algorithm  •  Pattern Recognition  •  Timeout Logic  •  Est. 18–25 min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6720" y="1950720"/>
            <a:ext cx="6729984" cy="249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6720" y="1950720"/>
            <a:ext cx="6729984" cy="4145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1950720"/>
            <a:ext cx="6364224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Unlock Sequence — Must match EXACTLY: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633984" y="2535936"/>
            <a:ext cx="365760" cy="36576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chemeClr val="bg1"/>
                </a:solidFill>
              </a:rPr>
              <a:t>1</a:t>
            </a:r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58240" y="2535936"/>
            <a:ext cx="1828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LDR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58240" y="2852928"/>
            <a:ext cx="57546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LDR — hold for 1+ second (light &lt; threshold)</a:t>
            </a:r>
            <a:endParaRPr lang="en-US" sz="1267" dirty="0"/>
          </a:p>
        </p:txBody>
      </p:sp>
      <p:sp>
        <p:nvSpPr>
          <p:cNvPr id="15" name="Text 13"/>
          <p:cNvSpPr/>
          <p:nvPr/>
        </p:nvSpPr>
        <p:spPr>
          <a:xfrm>
            <a:off x="633984" y="3145536"/>
            <a:ext cx="365760" cy="36576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chemeClr val="bg1"/>
                </a:solidFill>
              </a:rPr>
              <a:t>2</a:t>
            </a:r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58240" y="3145536"/>
            <a:ext cx="1828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IR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58240" y="3462528"/>
            <a:ext cx="57546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detects object — within 3s of Step 1 completing</a:t>
            </a:r>
            <a:endParaRPr lang="en-US" sz="1267" dirty="0"/>
          </a:p>
        </p:txBody>
      </p:sp>
      <p:sp>
        <p:nvSpPr>
          <p:cNvPr id="19" name="Text 17"/>
          <p:cNvSpPr/>
          <p:nvPr/>
        </p:nvSpPr>
        <p:spPr>
          <a:xfrm>
            <a:off x="633984" y="3755136"/>
            <a:ext cx="365760" cy="36576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chemeClr val="bg1"/>
                </a:solidFill>
              </a:rPr>
              <a:t>3</a:t>
            </a:r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58240" y="3755136"/>
            <a:ext cx="1828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Button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58240" y="4072128"/>
            <a:ext cx="57546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button — within 3s of Step 2 completing</a:t>
            </a:r>
            <a:endParaRPr lang="en-US" sz="1267" dirty="0"/>
          </a:p>
        </p:txBody>
      </p:sp>
      <p:sp>
        <p:nvSpPr>
          <p:cNvPr id="22" name="Shape 20"/>
          <p:cNvSpPr/>
          <p:nvPr/>
        </p:nvSpPr>
        <p:spPr>
          <a:xfrm>
            <a:off x="426720" y="4535424"/>
            <a:ext cx="6729984" cy="2218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6720" y="4535424"/>
            <a:ext cx="6729984" cy="390144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600" y="4535424"/>
            <a:ext cx="63642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Responses: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609600" y="4998720"/>
            <a:ext cx="23164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step:</a:t>
            </a:r>
            <a:endParaRPr lang="en-US" sz="1267" dirty="0"/>
          </a:p>
        </p:txBody>
      </p:sp>
      <p:sp>
        <p:nvSpPr>
          <p:cNvPr id="26" name="Text 24"/>
          <p:cNvSpPr/>
          <p:nvPr/>
        </p:nvSpPr>
        <p:spPr>
          <a:xfrm>
            <a:off x="2987040" y="4998720"/>
            <a:ext cx="3962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blinks once (100ms) — acknowledgement</a:t>
            </a:r>
            <a:endParaRPr lang="en-US" sz="1267" dirty="0"/>
          </a:p>
        </p:txBody>
      </p:sp>
      <p:sp>
        <p:nvSpPr>
          <p:cNvPr id="27" name="Text 25"/>
          <p:cNvSpPr/>
          <p:nvPr/>
        </p:nvSpPr>
        <p:spPr>
          <a:xfrm>
            <a:off x="609600" y="5388864"/>
            <a:ext cx="23164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timeout:</a:t>
            </a:r>
            <a:endParaRPr lang="en-US" sz="1267" dirty="0"/>
          </a:p>
        </p:txBody>
      </p:sp>
      <p:sp>
        <p:nvSpPr>
          <p:cNvPr id="28" name="Text 26"/>
          <p:cNvSpPr/>
          <p:nvPr/>
        </p:nvSpPr>
        <p:spPr>
          <a:xfrm>
            <a:off x="2987040" y="5388864"/>
            <a:ext cx="3962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Descending 3-tone alert → reset to Step 1</a:t>
            </a:r>
            <a:endParaRPr lang="en-US" sz="1267" dirty="0"/>
          </a:p>
        </p:txBody>
      </p:sp>
      <p:sp>
        <p:nvSpPr>
          <p:cNvPr id="29" name="Text 27"/>
          <p:cNvSpPr/>
          <p:nvPr/>
        </p:nvSpPr>
        <p:spPr>
          <a:xfrm>
            <a:off x="609600" y="5779008"/>
            <a:ext cx="23164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order:</a:t>
            </a:r>
            <a:endParaRPr lang="en-US" sz="1267" dirty="0"/>
          </a:p>
        </p:txBody>
      </p:sp>
      <p:sp>
        <p:nvSpPr>
          <p:cNvPr id="30" name="Text 28"/>
          <p:cNvSpPr/>
          <p:nvPr/>
        </p:nvSpPr>
        <p:spPr>
          <a:xfrm>
            <a:off x="2987040" y="5779008"/>
            <a:ext cx="3962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Double-beep → immediate reset to Step 1</a:t>
            </a:r>
            <a:endParaRPr lang="en-US" sz="1267" dirty="0"/>
          </a:p>
        </p:txBody>
      </p:sp>
      <p:sp>
        <p:nvSpPr>
          <p:cNvPr id="31" name="Text 29"/>
          <p:cNvSpPr/>
          <p:nvPr/>
        </p:nvSpPr>
        <p:spPr>
          <a:xfrm>
            <a:off x="609600" y="6169152"/>
            <a:ext cx="23164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sequence ✅:</a:t>
            </a:r>
            <a:endParaRPr lang="en-US" sz="1267" dirty="0"/>
          </a:p>
        </p:txBody>
      </p:sp>
      <p:sp>
        <p:nvSpPr>
          <p:cNvPr id="32" name="Text 30"/>
          <p:cNvSpPr/>
          <p:nvPr/>
        </p:nvSpPr>
        <p:spPr>
          <a:xfrm>
            <a:off x="2987040" y="6169152"/>
            <a:ext cx="3962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solid + ascending melody + 'VAULT UNLOCKED | Xms'</a:t>
            </a:r>
            <a:endParaRPr lang="en-US" sz="1267" dirty="0"/>
          </a:p>
        </p:txBody>
      </p:sp>
      <p:sp>
        <p:nvSpPr>
          <p:cNvPr id="33" name="Shape 31"/>
          <p:cNvSpPr/>
          <p:nvPr/>
        </p:nvSpPr>
        <p:spPr>
          <a:xfrm>
            <a:off x="7376160" y="1950720"/>
            <a:ext cx="4364736" cy="249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76160" y="1950720"/>
            <a:ext cx="4364736" cy="3901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59040" y="1950720"/>
            <a:ext cx="399897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Must Also Track:</a:t>
            </a:r>
            <a:endParaRPr lang="en-US" sz="1467" dirty="0"/>
          </a:p>
        </p:txBody>
      </p:sp>
      <p:sp>
        <p:nvSpPr>
          <p:cNvPr id="36" name="Text 34"/>
          <p:cNvSpPr/>
          <p:nvPr/>
        </p:nvSpPr>
        <p:spPr>
          <a:xfrm>
            <a:off x="7559040" y="2414016"/>
            <a:ext cx="3998976" cy="1926336"/>
          </a:xfrm>
          <a:prstGeom prst="rect">
            <a:avLst/>
          </a:prstGeom>
          <a:noFill/>
          <a:ln/>
        </p:spPr>
        <p:txBody>
          <a:bodyPr wrap="square" lIns="1355" tIns="2540" rIns="2540" bIns="1355" rtlCol="0" anchor="t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count (total tries)</a:t>
            </a:r>
            <a:endParaRPr lang="en-US" sz="1400" dirty="0"/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count (unlocks)</a:t>
            </a:r>
            <a:endParaRPr lang="en-US" sz="1400" dirty="0"/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each step via millis()</a:t>
            </a:r>
            <a:endParaRPr lang="en-US" sz="1400" dirty="0"/>
          </a:p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 window accurate to ±100ms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376160" y="4535424"/>
            <a:ext cx="4364736" cy="2218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76160" y="4535424"/>
            <a:ext cx="4364736" cy="3901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59040" y="4535424"/>
            <a:ext cx="399897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Judge Verification:</a:t>
            </a:r>
            <a:endParaRPr lang="en-US" sz="1467" dirty="0"/>
          </a:p>
        </p:txBody>
      </p:sp>
      <p:sp>
        <p:nvSpPr>
          <p:cNvPr id="40" name="Text 38"/>
          <p:cNvSpPr/>
          <p:nvPr/>
        </p:nvSpPr>
        <p:spPr>
          <a:xfrm>
            <a:off x="7559040" y="4998720"/>
            <a:ext cx="3998976" cy="1658112"/>
          </a:xfrm>
          <a:prstGeom prst="rect">
            <a:avLst/>
          </a:prstGeom>
          <a:noFill/>
          <a:ln/>
        </p:spPr>
        <p:txBody>
          <a:bodyPr wrap="square" lIns="1355" tIns="2540" rIns="2540" bIns="1355" rtlCol="0" anchor="t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wrong sequence → must reject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step timeout → alert + reset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full sequence → must unlock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times 3s window with phone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'What tracks the current step?'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338568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219456"/>
            <a:ext cx="26822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3296" y="609600"/>
            <a:ext cx="1097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67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Reactor</a:t>
            </a:r>
            <a:endParaRPr lang="en-US" sz="5067" dirty="0"/>
          </a:p>
        </p:txBody>
      </p:sp>
      <p:sp>
        <p:nvSpPr>
          <p:cNvPr id="6" name="Text 4"/>
          <p:cNvSpPr/>
          <p:nvPr/>
        </p:nvSpPr>
        <p:spPr>
          <a:xfrm>
            <a:off x="463296" y="1487424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 •  Scoring Algorithm  •  Proportional Response  •  Est. 20–30 min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6720" y="1950720"/>
            <a:ext cx="6120384" cy="2865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6720" y="1950720"/>
            <a:ext cx="6120384" cy="4145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1950720"/>
            <a:ext cx="5754624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Threat Score Algorithm — Implement EXACTLY: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487680" y="2438400"/>
            <a:ext cx="5998464" cy="221894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7680" y="2438400"/>
            <a:ext cx="5998464" cy="2218944"/>
          </a:xfrm>
          <a:prstGeom prst="rect">
            <a:avLst/>
          </a:prstGeom>
          <a:noFill/>
          <a:ln/>
        </p:spPr>
        <p:txBody>
          <a:bodyPr wrap="square" lIns="2032" tIns="2540" rIns="2540" bIns="1693" rtlCol="0" anchor="t"/>
          <a:lstStyle/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THREAT_SCORE = 0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temp &gt; 35°C       → SCORE += 40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temp 30–35°C      → SCORE += 20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light &lt; 20%       → SCORE += 30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light 20–40%      → SCORE += 15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IR detects motion → SCORE += </a:t>
            </a:r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400" dirty="0"/>
          </a:p>
          <a:p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RANGE: 0 – 100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90944" y="1950720"/>
            <a:ext cx="4949952" cy="2865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90944" y="1950720"/>
            <a:ext cx="4949952" cy="4145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73824" y="1950720"/>
            <a:ext cx="458419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Response by Score: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6851904" y="2511552"/>
            <a:ext cx="4803648" cy="609600"/>
          </a:xfrm>
          <a:prstGeom prst="rect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3824" y="2560320"/>
            <a:ext cx="1097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– 30</a:t>
            </a:r>
            <a:endParaRPr lang="en-US" sz="1267" dirty="0"/>
          </a:p>
        </p:txBody>
      </p:sp>
      <p:sp>
        <p:nvSpPr>
          <p:cNvPr id="17" name="Text 15"/>
          <p:cNvSpPr/>
          <p:nvPr/>
        </p:nvSpPr>
        <p:spPr>
          <a:xfrm>
            <a:off x="8132064" y="2560320"/>
            <a:ext cx="1219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267" dirty="0"/>
          </a:p>
        </p:txBody>
      </p:sp>
      <p:sp>
        <p:nvSpPr>
          <p:cNvPr id="18" name="Text 16"/>
          <p:cNvSpPr/>
          <p:nvPr/>
        </p:nvSpPr>
        <p:spPr>
          <a:xfrm>
            <a:off x="6973824" y="2852928"/>
            <a:ext cx="2218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 solid</a:t>
            </a:r>
            <a:endParaRPr lang="en-US" sz="1133" dirty="0"/>
          </a:p>
        </p:txBody>
      </p:sp>
      <p:sp>
        <p:nvSpPr>
          <p:cNvPr id="19" name="Text 17"/>
          <p:cNvSpPr/>
          <p:nvPr/>
        </p:nvSpPr>
        <p:spPr>
          <a:xfrm>
            <a:off x="9241536" y="2852928"/>
            <a:ext cx="231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</a:t>
            </a:r>
            <a:endParaRPr lang="en-US" sz="1133" dirty="0"/>
          </a:p>
        </p:txBody>
      </p:sp>
      <p:sp>
        <p:nvSpPr>
          <p:cNvPr id="20" name="Shape 18"/>
          <p:cNvSpPr/>
          <p:nvPr/>
        </p:nvSpPr>
        <p:spPr>
          <a:xfrm>
            <a:off x="6851904" y="3218688"/>
            <a:ext cx="4803648" cy="6096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73824" y="3267456"/>
            <a:ext cx="1097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– 60</a:t>
            </a:r>
            <a:endParaRPr lang="en-US" sz="1267" dirty="0"/>
          </a:p>
        </p:txBody>
      </p:sp>
      <p:sp>
        <p:nvSpPr>
          <p:cNvPr id="22" name="Text 20"/>
          <p:cNvSpPr/>
          <p:nvPr/>
        </p:nvSpPr>
        <p:spPr>
          <a:xfrm>
            <a:off x="8132064" y="3267456"/>
            <a:ext cx="1219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267" dirty="0"/>
          </a:p>
        </p:txBody>
      </p:sp>
      <p:sp>
        <p:nvSpPr>
          <p:cNvPr id="23" name="Text 21"/>
          <p:cNvSpPr/>
          <p:nvPr/>
        </p:nvSpPr>
        <p:spPr>
          <a:xfrm>
            <a:off x="6973824" y="3560064"/>
            <a:ext cx="2218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 fast blink</a:t>
            </a:r>
            <a:endParaRPr lang="en-US" sz="1133" dirty="0"/>
          </a:p>
        </p:txBody>
      </p:sp>
      <p:sp>
        <p:nvSpPr>
          <p:cNvPr id="24" name="Text 22"/>
          <p:cNvSpPr/>
          <p:nvPr/>
        </p:nvSpPr>
        <p:spPr>
          <a:xfrm>
            <a:off x="9241536" y="3560064"/>
            <a:ext cx="231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 every 3s</a:t>
            </a:r>
            <a:endParaRPr lang="en-US" sz="1133" dirty="0"/>
          </a:p>
        </p:txBody>
      </p:sp>
      <p:sp>
        <p:nvSpPr>
          <p:cNvPr id="25" name="Shape 23"/>
          <p:cNvSpPr/>
          <p:nvPr/>
        </p:nvSpPr>
        <p:spPr>
          <a:xfrm>
            <a:off x="6851904" y="3925824"/>
            <a:ext cx="4803648" cy="6096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73824" y="3974592"/>
            <a:ext cx="1097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 – 100</a:t>
            </a:r>
            <a:endParaRPr lang="en-US" sz="1267" dirty="0"/>
          </a:p>
        </p:txBody>
      </p:sp>
      <p:sp>
        <p:nvSpPr>
          <p:cNvPr id="27" name="Text 25"/>
          <p:cNvSpPr/>
          <p:nvPr/>
        </p:nvSpPr>
        <p:spPr>
          <a:xfrm>
            <a:off x="8132064" y="3974592"/>
            <a:ext cx="1219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67" dirty="0"/>
          </a:p>
        </p:txBody>
      </p:sp>
      <p:sp>
        <p:nvSpPr>
          <p:cNvPr id="28" name="Text 26"/>
          <p:cNvSpPr/>
          <p:nvPr/>
        </p:nvSpPr>
        <p:spPr>
          <a:xfrm>
            <a:off x="6973824" y="4267200"/>
            <a:ext cx="2218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LEDs rapid blink</a:t>
            </a:r>
            <a:endParaRPr lang="en-US" sz="1133" dirty="0"/>
          </a:p>
        </p:txBody>
      </p:sp>
      <p:sp>
        <p:nvSpPr>
          <p:cNvPr id="29" name="Text 27"/>
          <p:cNvSpPr/>
          <p:nvPr/>
        </p:nvSpPr>
        <p:spPr>
          <a:xfrm>
            <a:off x="9241536" y="4267200"/>
            <a:ext cx="231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beep</a:t>
            </a:r>
            <a:endParaRPr lang="en-US" sz="1133" dirty="0"/>
          </a:p>
        </p:txBody>
      </p:sp>
      <p:sp>
        <p:nvSpPr>
          <p:cNvPr id="30" name="Shape 28"/>
          <p:cNvSpPr/>
          <p:nvPr/>
        </p:nvSpPr>
        <p:spPr>
          <a:xfrm>
            <a:off x="426720" y="4901184"/>
            <a:ext cx="6120384" cy="1853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6720" y="4901184"/>
            <a:ext cx="6120384" cy="3901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600" y="4901184"/>
            <a:ext cx="57546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Additional Rules:</a:t>
            </a:r>
            <a:endParaRPr lang="en-US" sz="1467" dirty="0"/>
          </a:p>
        </p:txBody>
      </p:sp>
      <p:sp>
        <p:nvSpPr>
          <p:cNvPr id="33" name="Text 31"/>
          <p:cNvSpPr/>
          <p:nvPr/>
        </p:nvSpPr>
        <p:spPr>
          <a:xfrm>
            <a:off x="609600" y="5364480"/>
            <a:ext cx="5754624" cy="1292352"/>
          </a:xfrm>
          <a:prstGeom prst="rect">
            <a:avLst/>
          </a:prstGeom>
          <a:noFill/>
          <a:ln/>
        </p:spPr>
        <p:txBody>
          <a:bodyPr wrap="square" lIns="1355" tIns="2540" rIns="2540" bIns="1355" rtlCol="0" anchor="t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recalculated every 500ms using millis()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Serial: 'SCORE: 70 | CRITICAL – HIGH_TEMP, DARK, MOTION'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crossings: ascending tones up, descending down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delay() anywhere in the code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6790944" y="4901184"/>
            <a:ext cx="4949952" cy="1853184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90944" y="4901184"/>
            <a:ext cx="4949952" cy="3901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73824" y="4901184"/>
            <a:ext cx="458419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Judge Verification:</a:t>
            </a:r>
            <a:endParaRPr lang="en-US" sz="1467" dirty="0"/>
          </a:p>
        </p:txBody>
      </p:sp>
      <p:sp>
        <p:nvSpPr>
          <p:cNvPr id="37" name="Text 35"/>
          <p:cNvSpPr/>
          <p:nvPr/>
        </p:nvSpPr>
        <p:spPr>
          <a:xfrm>
            <a:off x="6973824" y="5364480"/>
            <a:ext cx="4584192" cy="1292352"/>
          </a:xfrm>
          <a:prstGeom prst="rect">
            <a:avLst/>
          </a:prstGeom>
          <a:noFill/>
          <a:ln/>
        </p:spPr>
        <p:txBody>
          <a:bodyPr wrap="square" lIns="1355" tIns="2540" rIns="2540" bIns="1355" rtlCol="0" anchor="t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LDR → score changes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 on DHT11 → temp rises → score changes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all 3 → must hit CRITICAL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asks team to predict score before each change</a:t>
            </a:r>
            <a:endParaRPr lang="en-US" sz="1333" dirty="0"/>
          </a:p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'How would you add a 4th sensor?'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2189302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63296" y="219456"/>
            <a:ext cx="11265408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12B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Scoring, Rankings &amp; Prizes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463296" y="804672"/>
            <a:ext cx="1126540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team verified on all 3 challenges wins 🏆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26720" y="6364224"/>
            <a:ext cx="11314176" cy="341376"/>
          </a:xfrm>
          <a:prstGeom prst="rect">
            <a:avLst/>
          </a:prstGeom>
          <a:solidFill>
            <a:srgbClr val="EEF9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9600" y="6400800"/>
            <a:ext cx="11094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Tiebreaker: Both teams finish simultaneously? Judge asks one technical question — better answer wins.</a:t>
            </a:r>
            <a:endParaRPr lang="en-US" sz="1333" dirty="0"/>
          </a:p>
        </p:txBody>
      </p:sp>
      <p:grpSp>
        <p:nvGrpSpPr>
          <p:cNvPr id="46" name="Group 45"/>
          <p:cNvGrpSpPr/>
          <p:nvPr/>
        </p:nvGrpSpPr>
        <p:grpSpPr>
          <a:xfrm>
            <a:off x="426720" y="1992440"/>
            <a:ext cx="11314176" cy="853440"/>
            <a:chOff x="426720" y="1280160"/>
            <a:chExt cx="11314176" cy="853440"/>
          </a:xfrm>
        </p:grpSpPr>
        <p:sp>
          <p:nvSpPr>
            <p:cNvPr id="5" name="Shape 3"/>
            <p:cNvSpPr/>
            <p:nvPr/>
          </p:nvSpPr>
          <p:spPr>
            <a:xfrm>
              <a:off x="426720" y="1280160"/>
              <a:ext cx="11314176" cy="853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7706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426720" y="1280160"/>
              <a:ext cx="85344" cy="853440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</p:sp>
        <p:grpSp>
          <p:nvGrpSpPr>
            <p:cNvPr id="43" name="Group 42"/>
            <p:cNvGrpSpPr/>
            <p:nvPr/>
          </p:nvGrpSpPr>
          <p:grpSpPr>
            <a:xfrm>
              <a:off x="583287" y="1353312"/>
              <a:ext cx="5122569" cy="707136"/>
              <a:chOff x="583287" y="1353312"/>
              <a:chExt cx="5122569" cy="707136"/>
            </a:xfrm>
          </p:grpSpPr>
          <p:sp>
            <p:nvSpPr>
              <p:cNvPr id="8" name="Text 6"/>
              <p:cNvSpPr/>
              <p:nvPr/>
            </p:nvSpPr>
            <p:spPr>
              <a:xfrm>
                <a:off x="1438656" y="1353312"/>
                <a:ext cx="268224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867" b="1" dirty="0">
                    <a:solidFill>
                      <a:srgbClr val="D97706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1st Place</a:t>
                </a:r>
                <a:endParaRPr lang="en-US" sz="1867" dirty="0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1438656" y="1767840"/>
                <a:ext cx="426720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333" i="1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First team verified on all 3 challenges</a:t>
                </a:r>
                <a:endParaRPr lang="en-US" sz="1333" dirty="0"/>
              </a:p>
            </p:txBody>
          </p:sp>
          <p:pic>
            <p:nvPicPr>
              <p:cNvPr id="37" name="Picture 3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3287" y="1499616"/>
                <a:ext cx="417600" cy="417600"/>
              </a:xfrm>
              <a:prstGeom prst="rect">
                <a:avLst/>
              </a:prstGeom>
            </p:spPr>
          </p:pic>
        </p:grpSp>
      </p:grpSp>
      <p:grpSp>
        <p:nvGrpSpPr>
          <p:cNvPr id="45" name="Group 44"/>
          <p:cNvGrpSpPr/>
          <p:nvPr/>
        </p:nvGrpSpPr>
        <p:grpSpPr>
          <a:xfrm>
            <a:off x="426720" y="3143536"/>
            <a:ext cx="11314176" cy="853440"/>
            <a:chOff x="426720" y="2292096"/>
            <a:chExt cx="11314176" cy="853440"/>
          </a:xfrm>
        </p:grpSpPr>
        <p:sp>
          <p:nvSpPr>
            <p:cNvPr id="11" name="Shape 9"/>
            <p:cNvSpPr/>
            <p:nvPr/>
          </p:nvSpPr>
          <p:spPr>
            <a:xfrm>
              <a:off x="426720" y="2292096"/>
              <a:ext cx="11314176" cy="853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64748B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12" name="Shape 10"/>
            <p:cNvSpPr/>
            <p:nvPr/>
          </p:nvSpPr>
          <p:spPr>
            <a:xfrm>
              <a:off x="426720" y="2292096"/>
              <a:ext cx="85344" cy="853440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633984" y="2414016"/>
              <a:ext cx="6705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endParaRPr lang="en-US" sz="2933" dirty="0"/>
            </a:p>
          </p:txBody>
        </p:sp>
        <p:grpSp>
          <p:nvGrpSpPr>
            <p:cNvPr id="42" name="Group 41"/>
            <p:cNvGrpSpPr/>
            <p:nvPr/>
          </p:nvGrpSpPr>
          <p:grpSpPr>
            <a:xfrm>
              <a:off x="583287" y="2365248"/>
              <a:ext cx="5122569" cy="707136"/>
              <a:chOff x="583287" y="2365248"/>
              <a:chExt cx="5122569" cy="707136"/>
            </a:xfrm>
          </p:grpSpPr>
          <p:sp>
            <p:nvSpPr>
              <p:cNvPr id="14" name="Text 12"/>
              <p:cNvSpPr/>
              <p:nvPr/>
            </p:nvSpPr>
            <p:spPr>
              <a:xfrm>
                <a:off x="1438656" y="2365248"/>
                <a:ext cx="268224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867" b="1" dirty="0">
                    <a:solidFill>
                      <a:srgbClr val="64748B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2nd Place</a:t>
                </a:r>
                <a:endParaRPr lang="en-US" sz="1867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1438656" y="2779776"/>
                <a:ext cx="426720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333" i="1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Second team verified on all 3</a:t>
                </a:r>
                <a:endParaRPr lang="en-US" sz="1333" dirty="0"/>
              </a:p>
            </p:txBody>
          </p:sp>
          <p:pic>
            <p:nvPicPr>
              <p:cNvPr id="39" name="Picture 3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287" y="2506218"/>
                <a:ext cx="417600" cy="417600"/>
              </a:xfrm>
              <a:prstGeom prst="rect">
                <a:avLst/>
              </a:prstGeom>
            </p:spPr>
          </p:pic>
        </p:grpSp>
      </p:grpSp>
      <p:grpSp>
        <p:nvGrpSpPr>
          <p:cNvPr id="44" name="Group 43"/>
          <p:cNvGrpSpPr/>
          <p:nvPr/>
        </p:nvGrpSpPr>
        <p:grpSpPr>
          <a:xfrm>
            <a:off x="426720" y="4294632"/>
            <a:ext cx="11314176" cy="853440"/>
            <a:chOff x="426720" y="3304032"/>
            <a:chExt cx="11314176" cy="853440"/>
          </a:xfrm>
        </p:grpSpPr>
        <p:sp>
          <p:nvSpPr>
            <p:cNvPr id="17" name="Shape 15"/>
            <p:cNvSpPr/>
            <p:nvPr/>
          </p:nvSpPr>
          <p:spPr>
            <a:xfrm>
              <a:off x="426720" y="3304032"/>
              <a:ext cx="11314176" cy="8534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563EB"/>
              </a:solidFill>
              <a:prstDash val="solid"/>
            </a:ln>
            <a:effectLst>
              <a:outerShdw blurRad="101600" dist="25400" dir="8100000" algn="bl" rotWithShape="0">
                <a:srgbClr val="CBD5E1">
                  <a:alpha val="25000"/>
                </a:srgbClr>
              </a:outerShdw>
            </a:effectLst>
          </p:spPr>
        </p:sp>
        <p:sp>
          <p:nvSpPr>
            <p:cNvPr id="18" name="Shape 16"/>
            <p:cNvSpPr/>
            <p:nvPr/>
          </p:nvSpPr>
          <p:spPr>
            <a:xfrm>
              <a:off x="426720" y="3304032"/>
              <a:ext cx="85344" cy="85344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grpSp>
          <p:nvGrpSpPr>
            <p:cNvPr id="41" name="Group 40"/>
            <p:cNvGrpSpPr/>
            <p:nvPr/>
          </p:nvGrpSpPr>
          <p:grpSpPr>
            <a:xfrm>
              <a:off x="521589" y="3377184"/>
              <a:ext cx="5184267" cy="707136"/>
              <a:chOff x="521589" y="3377184"/>
              <a:chExt cx="5184267" cy="707136"/>
            </a:xfrm>
          </p:grpSpPr>
          <p:sp>
            <p:nvSpPr>
              <p:cNvPr id="20" name="Text 18"/>
              <p:cNvSpPr/>
              <p:nvPr/>
            </p:nvSpPr>
            <p:spPr>
              <a:xfrm>
                <a:off x="1438656" y="3377184"/>
                <a:ext cx="268224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867" b="1" dirty="0">
                    <a:solidFill>
                      <a:srgbClr val="2563EB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3rd Place</a:t>
                </a:r>
                <a:endParaRPr lang="en-US" sz="1867" dirty="0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1438656" y="3791712"/>
                <a:ext cx="426720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333" i="1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Third team verified on all 3</a:t>
                </a:r>
                <a:endParaRPr lang="en-US" sz="1333" dirty="0"/>
              </a:p>
            </p:txBody>
          </p:sp>
          <p:pic>
            <p:nvPicPr>
              <p:cNvPr id="40" name="Picture 39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1589" y="3402288"/>
                <a:ext cx="547200" cy="5472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97935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219456"/>
            <a:ext cx="11265408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You're Now an Embedded Engineer.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463296" y="804672"/>
            <a:ext cx="1126540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what you built in 10 hours — and where to go next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6720" y="1560576"/>
            <a:ext cx="3596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12BFFF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6720" y="1560576"/>
            <a:ext cx="3596640" cy="73152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1658112"/>
            <a:ext cx="323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12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GPIO &amp; Arduino</a:t>
            </a:r>
            <a:endParaRPr lang="en-US" sz="1533" dirty="0"/>
          </a:p>
        </p:txBody>
      </p:sp>
      <p:sp>
        <p:nvSpPr>
          <p:cNvPr id="9" name="Text 7"/>
          <p:cNvSpPr/>
          <p:nvPr/>
        </p:nvSpPr>
        <p:spPr>
          <a:xfrm>
            <a:off x="609600" y="2048256"/>
            <a:ext cx="32308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pinMode, digitalWrite, digitalRead, interrupts</a:t>
            </a:r>
            <a:endParaRPr lang="en-US" sz="1267" dirty="0"/>
          </a:p>
        </p:txBody>
      </p:sp>
      <p:sp>
        <p:nvSpPr>
          <p:cNvPr id="10" name="Shape 8"/>
          <p:cNvSpPr/>
          <p:nvPr/>
        </p:nvSpPr>
        <p:spPr>
          <a:xfrm>
            <a:off x="4230624" y="1560576"/>
            <a:ext cx="3596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30624" y="1560576"/>
            <a:ext cx="35966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3504" y="1658112"/>
            <a:ext cx="323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Bare Metal C</a:t>
            </a:r>
            <a:endParaRPr lang="en-US" sz="1533" dirty="0"/>
          </a:p>
        </p:txBody>
      </p:sp>
      <p:sp>
        <p:nvSpPr>
          <p:cNvPr id="13" name="Text 11"/>
          <p:cNvSpPr/>
          <p:nvPr/>
        </p:nvSpPr>
        <p:spPr>
          <a:xfrm>
            <a:off x="4413504" y="2048256"/>
            <a:ext cx="32308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addresses, TRM navigation, volatile</a:t>
            </a:r>
            <a:endParaRPr lang="en-US" sz="1267" dirty="0"/>
          </a:p>
        </p:txBody>
      </p:sp>
      <p:sp>
        <p:nvSpPr>
          <p:cNvPr id="14" name="Shape 12"/>
          <p:cNvSpPr/>
          <p:nvPr/>
        </p:nvSpPr>
        <p:spPr>
          <a:xfrm>
            <a:off x="8034528" y="1560576"/>
            <a:ext cx="3596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34528" y="1560576"/>
            <a:ext cx="35966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7408" y="1658112"/>
            <a:ext cx="323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Analog (ADC)</a:t>
            </a:r>
            <a:endParaRPr lang="en-US" sz="1533" dirty="0"/>
          </a:p>
        </p:txBody>
      </p:sp>
      <p:sp>
        <p:nvSpPr>
          <p:cNvPr id="17" name="Text 15"/>
          <p:cNvSpPr/>
          <p:nvPr/>
        </p:nvSpPr>
        <p:spPr>
          <a:xfrm>
            <a:off x="8217408" y="2048256"/>
            <a:ext cx="32308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12-bit sensing, voltage dividers, thresholds</a:t>
            </a:r>
            <a:endParaRPr lang="en-US" sz="1267" dirty="0"/>
          </a:p>
        </p:txBody>
      </p:sp>
      <p:sp>
        <p:nvSpPr>
          <p:cNvPr id="18" name="Shape 16"/>
          <p:cNvSpPr/>
          <p:nvPr/>
        </p:nvSpPr>
        <p:spPr>
          <a:xfrm>
            <a:off x="426720" y="2596896"/>
            <a:ext cx="3596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6720" y="2596896"/>
            <a:ext cx="35966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600" y="2694432"/>
            <a:ext cx="323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PWM</a:t>
            </a:r>
            <a:endParaRPr lang="en-US" sz="1533" dirty="0"/>
          </a:p>
        </p:txBody>
      </p:sp>
      <p:sp>
        <p:nvSpPr>
          <p:cNvPr id="21" name="Text 19"/>
          <p:cNvSpPr/>
          <p:nvPr/>
        </p:nvSpPr>
        <p:spPr>
          <a:xfrm>
            <a:off x="609600" y="3084576"/>
            <a:ext cx="32308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LEDC API, LED brightness, tone generation</a:t>
            </a:r>
            <a:endParaRPr lang="en-US" sz="1267" dirty="0"/>
          </a:p>
        </p:txBody>
      </p:sp>
      <p:sp>
        <p:nvSpPr>
          <p:cNvPr id="22" name="Shape 20"/>
          <p:cNvSpPr/>
          <p:nvPr/>
        </p:nvSpPr>
        <p:spPr>
          <a:xfrm>
            <a:off x="4230624" y="2596896"/>
            <a:ext cx="3596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30624" y="2596896"/>
            <a:ext cx="35966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13504" y="2694432"/>
            <a:ext cx="323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Protocols</a:t>
            </a:r>
            <a:endParaRPr lang="en-US" sz="1533" dirty="0"/>
          </a:p>
        </p:txBody>
      </p:sp>
      <p:sp>
        <p:nvSpPr>
          <p:cNvPr id="25" name="Text 23"/>
          <p:cNvSpPr/>
          <p:nvPr/>
        </p:nvSpPr>
        <p:spPr>
          <a:xfrm>
            <a:off x="4413504" y="3084576"/>
            <a:ext cx="32308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single-wire, library-based sensor comms</a:t>
            </a:r>
            <a:endParaRPr lang="en-US" sz="1267" dirty="0"/>
          </a:p>
        </p:txBody>
      </p:sp>
      <p:sp>
        <p:nvSpPr>
          <p:cNvPr id="26" name="Shape 24"/>
          <p:cNvSpPr/>
          <p:nvPr/>
        </p:nvSpPr>
        <p:spPr>
          <a:xfrm>
            <a:off x="8034528" y="2596896"/>
            <a:ext cx="3596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34528" y="2596896"/>
            <a:ext cx="359664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17408" y="2694432"/>
            <a:ext cx="323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Power Management</a:t>
            </a:r>
            <a:endParaRPr lang="en-US" sz="1533" dirty="0"/>
          </a:p>
        </p:txBody>
      </p:sp>
      <p:sp>
        <p:nvSpPr>
          <p:cNvPr id="29" name="Text 27"/>
          <p:cNvSpPr/>
          <p:nvPr/>
        </p:nvSpPr>
        <p:spPr>
          <a:xfrm>
            <a:off x="8217408" y="3084576"/>
            <a:ext cx="32308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sleep, 1000× battery life, RTC memory</a:t>
            </a:r>
            <a:endParaRPr lang="en-US" sz="1267" dirty="0"/>
          </a:p>
        </p:txBody>
      </p:sp>
      <p:sp>
        <p:nvSpPr>
          <p:cNvPr id="30" name="Shape 28"/>
          <p:cNvSpPr/>
          <p:nvPr/>
        </p:nvSpPr>
        <p:spPr>
          <a:xfrm>
            <a:off x="426720" y="3803904"/>
            <a:ext cx="11314176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6720" y="3803904"/>
            <a:ext cx="11314176" cy="414528"/>
          </a:xfrm>
          <a:prstGeom prst="rect">
            <a:avLst/>
          </a:prstGeom>
          <a:solidFill>
            <a:srgbClr val="12BF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600" y="3803904"/>
            <a:ext cx="109728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 on Your Embedded Journey: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3984" y="4315968"/>
            <a:ext cx="1682496" cy="926592"/>
          </a:xfrm>
          <a:prstGeom prst="rect">
            <a:avLst/>
          </a:prstGeom>
          <a:solidFill>
            <a:srgbClr val="EEF9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984" y="4315968"/>
            <a:ext cx="1682496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0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0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Multitasking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487168" y="4315968"/>
            <a:ext cx="1682496" cy="926592"/>
          </a:xfrm>
          <a:prstGeom prst="rect">
            <a:avLst/>
          </a:prstGeom>
          <a:solidFill>
            <a:srgbClr val="EEF9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87168" y="4315968"/>
            <a:ext cx="1682496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0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0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IoT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340352" y="4315968"/>
            <a:ext cx="1682496" cy="926592"/>
          </a:xfrm>
          <a:prstGeom prst="rect">
            <a:avLst/>
          </a:prstGeom>
          <a:solidFill>
            <a:srgbClr val="EEF9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0352" y="4315968"/>
            <a:ext cx="1682496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0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0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Framework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93536" y="4315968"/>
            <a:ext cx="1682496" cy="926592"/>
          </a:xfrm>
          <a:prstGeom prst="rect">
            <a:avLst/>
          </a:prstGeom>
          <a:solidFill>
            <a:srgbClr val="EEF9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93536" y="4315968"/>
            <a:ext cx="1682496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0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Design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0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46720" y="4315968"/>
            <a:ext cx="1682496" cy="926592"/>
          </a:xfrm>
          <a:prstGeom prst="rect">
            <a:avLst/>
          </a:prstGeom>
          <a:solidFill>
            <a:srgbClr val="EEF9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0" y="4315968"/>
            <a:ext cx="1682496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0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Updates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0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899904" y="4315968"/>
            <a:ext cx="1682496" cy="926592"/>
          </a:xfrm>
          <a:prstGeom prst="rect">
            <a:avLst/>
          </a:prstGeom>
          <a:solidFill>
            <a:srgbClr val="EEF9FF"/>
          </a:solidFill>
          <a:ln w="12700">
            <a:solidFill>
              <a:srgbClr val="12B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99904" y="4315968"/>
            <a:ext cx="1682496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0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TLS/Security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0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26720" y="5510784"/>
            <a:ext cx="11314176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CBD5E1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26720" y="5510784"/>
            <a:ext cx="11314176" cy="4145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9600" y="5510784"/>
            <a:ext cx="42672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📦  Resource Pack (shared now):</a:t>
            </a:r>
            <a:endParaRPr lang="en-US" sz="1467" dirty="0"/>
          </a:p>
        </p:txBody>
      </p:sp>
      <p:sp>
        <p:nvSpPr>
          <p:cNvPr id="48" name="Text 46"/>
          <p:cNvSpPr/>
          <p:nvPr/>
        </p:nvSpPr>
        <p:spPr>
          <a:xfrm>
            <a:off x="609600" y="5998464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(all exercise code)  •  ESP32 TRM PDF  •  PlatformIO quickstart guide  •  Component datasheets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94126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2570</Words>
  <Application>Microsoft Office PowerPoint</Application>
  <PresentationFormat>Widescreen</PresentationFormat>
  <Paragraphs>497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PRIYABRATA BASU</dc:creator>
  <cp:lastModifiedBy>PRIYABRATA BASU</cp:lastModifiedBy>
  <cp:revision>19</cp:revision>
  <dcterms:created xsi:type="dcterms:W3CDTF">2026-03-08T08:50:10Z</dcterms:created>
  <dcterms:modified xsi:type="dcterms:W3CDTF">2026-03-08T11:53:06Z</dcterms:modified>
</cp:coreProperties>
</file>