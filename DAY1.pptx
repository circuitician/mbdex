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1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0" r:id="rId15"/>
    <p:sldId id="269" r:id="rId16"/>
    <p:sldId id="270" r:id="rId17"/>
    <p:sldId id="271" r:id="rId18"/>
    <p:sldId id="272" r:id="rId19"/>
    <p:sldId id="276" r:id="rId20"/>
    <p:sldId id="277" r:id="rId21"/>
    <p:sldId id="273" r:id="rId22"/>
    <p:sldId id="274" r:id="rId23"/>
    <p:sldId id="278" r:id="rId24"/>
    <p:sldId id="279" r:id="rId25"/>
    <p:sldId id="275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9FE"/>
    <a:srgbClr val="059669"/>
    <a:srgbClr val="EF39BF"/>
    <a:srgbClr val="7C3AED"/>
    <a:srgbClr val="D97706"/>
    <a:srgbClr val="12BFFF"/>
    <a:srgbClr val="42B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7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65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35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32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12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256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44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292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4275" y="3178810"/>
            <a:ext cx="6775450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spc="-15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</a:t>
            </a:r>
            <a:r>
              <a:rPr lang="en-US" sz="2800" b="1" spc="-150" dirty="0" smtClean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Embedded </a:t>
            </a:r>
            <a:r>
              <a:rPr lang="en-US" sz="2800" b="1" spc="-15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Systems </a:t>
            </a:r>
            <a:r>
              <a:rPr lang="en-US" sz="2800" b="1" spc="-150" dirty="0" smtClean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</a:t>
            </a:r>
            <a:endParaRPr lang="en-US" sz="2800" spc="-15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2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Registers to IoT  —  </a:t>
            </a:r>
            <a:r>
              <a:rPr lang="en-US" sz="1300" b="1" i="1" dirty="0" smtClean="0">
                <a:solidFill>
                  <a:srgbClr val="12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 Build. Deploy.</a:t>
            </a:r>
            <a:endParaRPr lang="en-US" sz="1300" b="1" dirty="0">
              <a:solidFill>
                <a:srgbClr val="12B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 •  10 Hours  • 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•  PlatformIO + ESP-IDF  •  11:00 AM – 5:00 PM</a:t>
            </a:r>
            <a:endParaRPr lang="en-US" sz="1100" dirty="0"/>
          </a:p>
        </p:txBody>
      </p:sp>
      <p:sp>
        <p:nvSpPr>
          <p:cNvPr id="18" name="Rectangle 17"/>
          <p:cNvSpPr/>
          <p:nvPr/>
        </p:nvSpPr>
        <p:spPr>
          <a:xfrm>
            <a:off x="0" y="-2794"/>
            <a:ext cx="2774950" cy="1008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Triangle 20"/>
          <p:cNvSpPr/>
          <p:nvPr/>
        </p:nvSpPr>
        <p:spPr>
          <a:xfrm flipV="1">
            <a:off x="2774950" y="0"/>
            <a:ext cx="533400" cy="100584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0" name="Group 19"/>
          <p:cNvGrpSpPr/>
          <p:nvPr/>
        </p:nvGrpSpPr>
        <p:grpSpPr>
          <a:xfrm>
            <a:off x="217277" y="107696"/>
            <a:ext cx="2740942" cy="699008"/>
            <a:chOff x="77577" y="107696"/>
            <a:chExt cx="2740942" cy="699008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77" y="107696"/>
              <a:ext cx="2447642" cy="699008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2419051" y="264265"/>
              <a:ext cx="399468" cy="24622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000" b="0" cap="none" spc="0" dirty="0" smtClean="0">
                  <a:ln w="0">
                    <a:noFill/>
                  </a:ln>
                  <a:solidFill>
                    <a:srgbClr val="42BBEC"/>
                  </a:solidFill>
                  <a:latin typeface="Arial Black" panose="020B0A04020102020204" pitchFamily="34" charset="0"/>
                </a:rPr>
                <a:t>TM</a:t>
              </a:r>
              <a:endParaRPr lang="en-US" sz="1000" b="0" cap="none" spc="0" dirty="0">
                <a:ln w="0">
                  <a:noFill/>
                </a:ln>
                <a:solidFill>
                  <a:srgbClr val="42BBEC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2" name="Shape 2"/>
          <p:cNvSpPr/>
          <p:nvPr/>
        </p:nvSpPr>
        <p:spPr>
          <a:xfrm>
            <a:off x="-12700" y="1005840"/>
            <a:ext cx="2901949" cy="0"/>
          </a:xfrm>
          <a:prstGeom prst="lin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12BFFF"/>
            </a:solidFill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950" y="1014814"/>
            <a:ext cx="3340100" cy="2226734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8569325" y="-28194"/>
            <a:ext cx="577850" cy="108864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8741216" y="91482"/>
            <a:ext cx="577850" cy="108961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-27432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7999" b="1" dirty="0" smtClean="0">
                <a:solidFill>
                  <a:srgbClr val="12BFFF">
                    <a:alpha val="12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7999" dirty="0"/>
          </a:p>
        </p:txBody>
      </p:sp>
      <p:sp>
        <p:nvSpPr>
          <p:cNvPr id="5" name="Text 3"/>
          <p:cNvSpPr/>
          <p:nvPr/>
        </p:nvSpPr>
        <p:spPr>
          <a:xfrm>
            <a:off x="347472" y="411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</a:t>
            </a:r>
            <a:r>
              <a:rPr lang="en-US" sz="2200" b="1" dirty="0" smtClean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0" b="1" dirty="0" smtClea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47472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</a:t>
            </a:r>
            <a:r>
              <a:rPr lang="en-US" sz="5000" b="1" dirty="0" smtClean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Sensing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47472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 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•  ADC - DAC &amp;PWM  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32461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3246120"/>
            <a:ext cx="1920240" cy="5486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319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 smtClean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32461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3246120"/>
            <a:ext cx="1920240" cy="5486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3319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 smtClean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50592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53712" y="32461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53712" y="3246120"/>
            <a:ext cx="1920240" cy="5486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3319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 smtClean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53712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56832" y="32461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56832" y="3246120"/>
            <a:ext cx="1920240" cy="5486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3319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 smtClean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56832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Codes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8281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 — Schedule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7472" y="603504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Sensing  •  11:00 AM – 5:00 PM</a:t>
            </a:r>
            <a:endParaRPr lang="en-US" sz="12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268986" y="954024"/>
            <a:ext cx="8595360" cy="288000"/>
            <a:chOff x="274320" y="992124"/>
            <a:chExt cx="8595360" cy="288000"/>
          </a:xfrm>
        </p:grpSpPr>
        <p:sp>
          <p:nvSpPr>
            <p:cNvPr id="5" name="Shape 3"/>
            <p:cNvSpPr/>
            <p:nvPr/>
          </p:nvSpPr>
          <p:spPr>
            <a:xfrm>
              <a:off x="274320" y="992124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274320" y="992124"/>
              <a:ext cx="54864" cy="28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chemeClr val="accent5">
                  <a:lumMod val="50000"/>
                </a:schemeClr>
              </a:solidFill>
              <a:prstDash val="solid"/>
            </a:ln>
          </p:spPr>
        </p:sp>
        <p:grpSp>
          <p:nvGrpSpPr>
            <p:cNvPr id="49" name="Group 48"/>
            <p:cNvGrpSpPr/>
            <p:nvPr/>
          </p:nvGrpSpPr>
          <p:grpSpPr>
            <a:xfrm>
              <a:off x="438912" y="992124"/>
              <a:ext cx="8339328" cy="288000"/>
              <a:chOff x="438912" y="1024128"/>
              <a:chExt cx="8339328" cy="288000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438912" y="1024128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11:00 – 11:20</a:t>
                </a:r>
                <a:endParaRPr lang="en-US" sz="95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2084832" y="1024128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Welcome &amp; Kit Setup</a:t>
                </a:r>
                <a:endParaRPr lang="en-US" sz="105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5440680" y="1024128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Icebreaker, team formation, PlatformIO check</a:t>
                </a:r>
                <a:endParaRPr lang="en-US" sz="950" dirty="0"/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268986" y="1327687"/>
            <a:ext cx="8595360" cy="295620"/>
            <a:chOff x="274320" y="1431036"/>
            <a:chExt cx="8595360" cy="295620"/>
          </a:xfrm>
        </p:grpSpPr>
        <p:sp>
          <p:nvSpPr>
            <p:cNvPr id="10" name="Shape 8"/>
            <p:cNvSpPr/>
            <p:nvPr/>
          </p:nvSpPr>
          <p:spPr>
            <a:xfrm>
              <a:off x="274320" y="1438656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274320" y="1431036"/>
              <a:ext cx="54864" cy="288000"/>
            </a:xfrm>
            <a:prstGeom prst="rect">
              <a:avLst/>
            </a:prstGeom>
            <a:solidFill>
              <a:srgbClr val="12BFFF"/>
            </a:solidFill>
            <a:ln w="12700">
              <a:solidFill>
                <a:srgbClr val="12BFFF"/>
              </a:solidFill>
              <a:prstDash val="solid"/>
            </a:ln>
          </p:spPr>
        </p:sp>
        <p:grpSp>
          <p:nvGrpSpPr>
            <p:cNvPr id="50" name="Group 49"/>
            <p:cNvGrpSpPr/>
            <p:nvPr/>
          </p:nvGrpSpPr>
          <p:grpSpPr>
            <a:xfrm>
              <a:off x="438912" y="1431036"/>
              <a:ext cx="8339328" cy="288000"/>
              <a:chOff x="438912" y="1463040"/>
              <a:chExt cx="8339328" cy="288000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438912" y="1463040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11:20 – 12:20</a:t>
                </a:r>
                <a:endParaRPr lang="en-US" sz="95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2084832" y="1463040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1 — Getting Started</a:t>
                </a:r>
                <a:endParaRPr lang="en-US" sz="10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5440680" y="1463040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ESP32 architecture, GPIO, PlatformIO, first code</a:t>
                </a:r>
                <a:endParaRPr lang="en-US" sz="950" dirty="0"/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268986" y="1708970"/>
            <a:ext cx="8595360" cy="288000"/>
            <a:chOff x="274320" y="1869948"/>
            <a:chExt cx="8595360" cy="288000"/>
          </a:xfrm>
        </p:grpSpPr>
        <p:sp>
          <p:nvSpPr>
            <p:cNvPr id="15" name="Shape 13"/>
            <p:cNvSpPr/>
            <p:nvPr/>
          </p:nvSpPr>
          <p:spPr>
            <a:xfrm>
              <a:off x="274320" y="1869948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274320" y="1869948"/>
              <a:ext cx="54864" cy="288000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grpSp>
          <p:nvGrpSpPr>
            <p:cNvPr id="51" name="Group 50"/>
            <p:cNvGrpSpPr/>
            <p:nvPr/>
          </p:nvGrpSpPr>
          <p:grpSpPr>
            <a:xfrm>
              <a:off x="438912" y="1869948"/>
              <a:ext cx="8339328" cy="288000"/>
              <a:chOff x="438912" y="1901952"/>
              <a:chExt cx="8339328" cy="288000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438912" y="1901952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12:20 – 13:00</a:t>
                </a:r>
                <a:endParaRPr lang="en-US" sz="95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2084832" y="1901952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2 — Digital I/O &amp; Interrupts</a:t>
                </a:r>
                <a:endParaRPr lang="en-US" sz="105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440680" y="1901952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Polling vs ISR, IR sensor, T</a:t>
                </a:r>
                <a:r>
                  <a:rPr lang="en-US" sz="950" i="1" dirty="0" smtClean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achometer</a:t>
                </a:r>
                <a:endParaRPr lang="en-US" sz="950" dirty="0"/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268986" y="2082633"/>
            <a:ext cx="8595360" cy="288000"/>
            <a:chOff x="274320" y="2308860"/>
            <a:chExt cx="8595360" cy="288000"/>
          </a:xfrm>
        </p:grpSpPr>
        <p:sp>
          <p:nvSpPr>
            <p:cNvPr id="20" name="Shape 18"/>
            <p:cNvSpPr/>
            <p:nvPr/>
          </p:nvSpPr>
          <p:spPr>
            <a:xfrm>
              <a:off x="274320" y="2308860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274320" y="2308860"/>
              <a:ext cx="54864" cy="28800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grpSp>
          <p:nvGrpSpPr>
            <p:cNvPr id="52" name="Group 51"/>
            <p:cNvGrpSpPr/>
            <p:nvPr/>
          </p:nvGrpSpPr>
          <p:grpSpPr>
            <a:xfrm>
              <a:off x="438912" y="2308860"/>
              <a:ext cx="8339328" cy="288000"/>
              <a:chOff x="438912" y="2340864"/>
              <a:chExt cx="8339328" cy="288000"/>
            </a:xfrm>
          </p:grpSpPr>
          <p:sp>
            <p:nvSpPr>
              <p:cNvPr id="22" name="Text 20"/>
              <p:cNvSpPr/>
              <p:nvPr/>
            </p:nvSpPr>
            <p:spPr>
              <a:xfrm>
                <a:off x="438912" y="2340864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13:00 – 13:45</a:t>
                </a:r>
                <a:endParaRPr lang="en-US" sz="95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2084832" y="2340864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3 — Bare Metal &amp; Registers</a:t>
                </a:r>
                <a:endParaRPr lang="en-US" sz="105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5440680" y="2340864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ESP-IDF, datasheet reading, register programming</a:t>
                </a:r>
                <a:endParaRPr lang="en-US" sz="950" dirty="0"/>
              </a:p>
            </p:txBody>
          </p:sp>
        </p:grpSp>
      </p:grpSp>
      <p:grpSp>
        <p:nvGrpSpPr>
          <p:cNvPr id="62" name="Group 61"/>
          <p:cNvGrpSpPr/>
          <p:nvPr/>
        </p:nvGrpSpPr>
        <p:grpSpPr>
          <a:xfrm>
            <a:off x="268986" y="2456296"/>
            <a:ext cx="8595360" cy="288000"/>
            <a:chOff x="274320" y="2747772"/>
            <a:chExt cx="8595360" cy="288000"/>
          </a:xfrm>
        </p:grpSpPr>
        <p:sp>
          <p:nvSpPr>
            <p:cNvPr id="25" name="Shape 23"/>
            <p:cNvSpPr/>
            <p:nvPr/>
          </p:nvSpPr>
          <p:spPr>
            <a:xfrm>
              <a:off x="274320" y="2747772"/>
              <a:ext cx="8595360" cy="28800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274320" y="2747772"/>
              <a:ext cx="54864" cy="288000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grpSp>
          <p:nvGrpSpPr>
            <p:cNvPr id="53" name="Group 52"/>
            <p:cNvGrpSpPr/>
            <p:nvPr/>
          </p:nvGrpSpPr>
          <p:grpSpPr>
            <a:xfrm>
              <a:off x="438912" y="2747772"/>
              <a:ext cx="4937760" cy="288000"/>
              <a:chOff x="438912" y="2779776"/>
              <a:chExt cx="4937760" cy="288000"/>
            </a:xfrm>
          </p:grpSpPr>
          <p:sp>
            <p:nvSpPr>
              <p:cNvPr id="27" name="Text 25"/>
              <p:cNvSpPr/>
              <p:nvPr/>
            </p:nvSpPr>
            <p:spPr>
              <a:xfrm>
                <a:off x="438912" y="2779776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13:45 – 14:30</a:t>
                </a:r>
                <a:endParaRPr lang="en-US" sz="95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2084832" y="2779776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50" dirty="0" smtClean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Lunch </a:t>
                </a:r>
                <a:r>
                  <a:rPr lang="en-US" sz="105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Break</a:t>
                </a:r>
                <a:endParaRPr lang="en-US" sz="1050" dirty="0"/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268986" y="2829959"/>
            <a:ext cx="8595360" cy="288000"/>
            <a:chOff x="274320" y="3186684"/>
            <a:chExt cx="8595360" cy="288000"/>
          </a:xfrm>
        </p:grpSpPr>
        <p:sp>
          <p:nvSpPr>
            <p:cNvPr id="29" name="Shape 27"/>
            <p:cNvSpPr/>
            <p:nvPr/>
          </p:nvSpPr>
          <p:spPr>
            <a:xfrm>
              <a:off x="274320" y="3186684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274320" y="3186684"/>
              <a:ext cx="54864" cy="2880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grpSp>
          <p:nvGrpSpPr>
            <p:cNvPr id="54" name="Group 53"/>
            <p:cNvGrpSpPr/>
            <p:nvPr/>
          </p:nvGrpSpPr>
          <p:grpSpPr>
            <a:xfrm>
              <a:off x="438912" y="3186684"/>
              <a:ext cx="8339328" cy="288000"/>
              <a:chOff x="438912" y="3218688"/>
              <a:chExt cx="8339328" cy="288000"/>
            </a:xfrm>
          </p:grpSpPr>
          <p:sp>
            <p:nvSpPr>
              <p:cNvPr id="31" name="Text 29"/>
              <p:cNvSpPr/>
              <p:nvPr/>
            </p:nvSpPr>
            <p:spPr>
              <a:xfrm>
                <a:off x="438912" y="3218688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14:30 – 15:15</a:t>
                </a:r>
                <a:endParaRPr lang="en-US" sz="95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2084832" y="3218688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4 — Analog Sensing (ADC)</a:t>
                </a:r>
                <a:endParaRPr lang="en-US" sz="105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5440680" y="3218688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LDR, voltage divider, 12-bit ADC, light zones</a:t>
                </a:r>
                <a:endParaRPr lang="en-US" sz="950" dirty="0"/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268986" y="3577285"/>
            <a:ext cx="8595360" cy="288000"/>
            <a:chOff x="274320" y="3625596"/>
            <a:chExt cx="8595360" cy="288000"/>
          </a:xfrm>
        </p:grpSpPr>
        <p:sp>
          <p:nvSpPr>
            <p:cNvPr id="34" name="Shape 32"/>
            <p:cNvSpPr/>
            <p:nvPr/>
          </p:nvSpPr>
          <p:spPr>
            <a:xfrm>
              <a:off x="274320" y="3625596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274320" y="3625596"/>
              <a:ext cx="54864" cy="2880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grpSp>
          <p:nvGrpSpPr>
            <p:cNvPr id="55" name="Group 54"/>
            <p:cNvGrpSpPr/>
            <p:nvPr/>
          </p:nvGrpSpPr>
          <p:grpSpPr>
            <a:xfrm>
              <a:off x="438912" y="3625596"/>
              <a:ext cx="8339328" cy="288000"/>
              <a:chOff x="438912" y="3657600"/>
              <a:chExt cx="8339328" cy="288000"/>
            </a:xfrm>
          </p:grpSpPr>
          <p:sp>
            <p:nvSpPr>
              <p:cNvPr id="36" name="Text 34"/>
              <p:cNvSpPr/>
              <p:nvPr/>
            </p:nvSpPr>
            <p:spPr>
              <a:xfrm>
                <a:off x="438912" y="3657600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 smtClean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15:40 </a:t>
                </a: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– 16:00</a:t>
                </a:r>
                <a:endParaRPr lang="en-US" sz="950" dirty="0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2084832" y="3657600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6</a:t>
                </a:r>
                <a:r>
                  <a:rPr lang="en-US" sz="1050" b="1" dirty="0" smtClean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</a:t>
                </a:r>
                <a:r>
                  <a:rPr lang="en-US" sz="1050" b="1" dirty="0" smtClean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DAC </a:t>
                </a: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&amp; Output Control</a:t>
                </a:r>
                <a:endParaRPr lang="en-US" sz="105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5440680" y="3657600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 smtClean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DAC Resolution, wave generation, Audio</a:t>
                </a:r>
                <a:endParaRPr lang="en-US" sz="950" dirty="0"/>
              </a:p>
            </p:txBody>
          </p:sp>
        </p:grpSp>
      </p:grpSp>
      <p:grpSp>
        <p:nvGrpSpPr>
          <p:cNvPr id="65" name="Group 64"/>
          <p:cNvGrpSpPr/>
          <p:nvPr/>
        </p:nvGrpSpPr>
        <p:grpSpPr>
          <a:xfrm>
            <a:off x="268986" y="3950948"/>
            <a:ext cx="8595360" cy="288000"/>
            <a:chOff x="274320" y="4064508"/>
            <a:chExt cx="8595360" cy="288000"/>
          </a:xfrm>
        </p:grpSpPr>
        <p:sp>
          <p:nvSpPr>
            <p:cNvPr id="39" name="Shape 37"/>
            <p:cNvSpPr/>
            <p:nvPr/>
          </p:nvSpPr>
          <p:spPr>
            <a:xfrm>
              <a:off x="274320" y="4064508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274320" y="4064508"/>
              <a:ext cx="54864" cy="28800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</p:sp>
        <p:grpSp>
          <p:nvGrpSpPr>
            <p:cNvPr id="56" name="Group 55"/>
            <p:cNvGrpSpPr/>
            <p:nvPr/>
          </p:nvGrpSpPr>
          <p:grpSpPr>
            <a:xfrm>
              <a:off x="438912" y="4064508"/>
              <a:ext cx="8339328" cy="288000"/>
              <a:chOff x="438912" y="4096512"/>
              <a:chExt cx="8339328" cy="288000"/>
            </a:xfrm>
          </p:grpSpPr>
          <p:sp>
            <p:nvSpPr>
              <p:cNvPr id="41" name="Text 39"/>
              <p:cNvSpPr/>
              <p:nvPr/>
            </p:nvSpPr>
            <p:spPr>
              <a:xfrm>
                <a:off x="438912" y="4096512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16:00 – 16:30</a:t>
                </a:r>
                <a:endParaRPr lang="en-US" sz="95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2084832" y="4096512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</a:t>
                </a:r>
                <a:r>
                  <a:rPr lang="en-US" sz="1050" b="1" dirty="0" smtClean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7 </a:t>
                </a: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DHT11 &amp; Protocols</a:t>
                </a:r>
                <a:endParaRPr lang="en-US" sz="105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5440680" y="4096512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Single-wire protocol, temperature alerts</a:t>
                </a:r>
                <a:endParaRPr lang="en-US" sz="950" dirty="0"/>
              </a:p>
            </p:txBody>
          </p:sp>
        </p:grpSp>
      </p:grpSp>
      <p:grpSp>
        <p:nvGrpSpPr>
          <p:cNvPr id="66" name="Group 65"/>
          <p:cNvGrpSpPr/>
          <p:nvPr/>
        </p:nvGrpSpPr>
        <p:grpSpPr>
          <a:xfrm>
            <a:off x="268986" y="4698274"/>
            <a:ext cx="8595360" cy="288000"/>
            <a:chOff x="274320" y="4503420"/>
            <a:chExt cx="8595360" cy="288000"/>
          </a:xfrm>
        </p:grpSpPr>
        <p:sp>
          <p:nvSpPr>
            <p:cNvPr id="44" name="Shape 42"/>
            <p:cNvSpPr/>
            <p:nvPr/>
          </p:nvSpPr>
          <p:spPr>
            <a:xfrm>
              <a:off x="274320" y="4503420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45" name="Shape 43"/>
            <p:cNvSpPr/>
            <p:nvPr/>
          </p:nvSpPr>
          <p:spPr>
            <a:xfrm>
              <a:off x="274320" y="4503420"/>
              <a:ext cx="54864" cy="288000"/>
            </a:xfrm>
            <a:prstGeom prst="rect">
              <a:avLst/>
            </a:prstGeom>
            <a:solidFill>
              <a:srgbClr val="12BFFF"/>
            </a:solidFill>
            <a:ln w="12700">
              <a:solidFill>
                <a:srgbClr val="12BFFF"/>
              </a:solidFill>
              <a:prstDash val="solid"/>
            </a:ln>
          </p:spPr>
        </p:sp>
        <p:grpSp>
          <p:nvGrpSpPr>
            <p:cNvPr id="57" name="Group 56"/>
            <p:cNvGrpSpPr/>
            <p:nvPr/>
          </p:nvGrpSpPr>
          <p:grpSpPr>
            <a:xfrm>
              <a:off x="438912" y="4503420"/>
              <a:ext cx="8339328" cy="288000"/>
              <a:chOff x="438912" y="4535424"/>
              <a:chExt cx="8339328" cy="288000"/>
            </a:xfrm>
          </p:grpSpPr>
          <p:sp>
            <p:nvSpPr>
              <p:cNvPr id="46" name="Text 44"/>
              <p:cNvSpPr/>
              <p:nvPr/>
            </p:nvSpPr>
            <p:spPr>
              <a:xfrm>
                <a:off x="438912" y="4535424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 smtClean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16:45 </a:t>
                </a: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– 17:00</a:t>
                </a:r>
                <a:endParaRPr lang="en-US" sz="950" dirty="0"/>
              </a:p>
            </p:txBody>
          </p:sp>
          <p:sp>
            <p:nvSpPr>
              <p:cNvPr id="47" name="Text 45"/>
              <p:cNvSpPr/>
              <p:nvPr/>
            </p:nvSpPr>
            <p:spPr>
              <a:xfrm>
                <a:off x="2084832" y="4535424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Day 1 Recap &amp; Quiz</a:t>
                </a:r>
                <a:endParaRPr lang="en-US" sz="1050" dirty="0"/>
              </a:p>
            </p:txBody>
          </p:sp>
          <p:sp>
            <p:nvSpPr>
              <p:cNvPr id="48" name="Text 46"/>
              <p:cNvSpPr/>
              <p:nvPr/>
            </p:nvSpPr>
            <p:spPr>
              <a:xfrm>
                <a:off x="5440680" y="4535424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 rapid-fire questions + Day 2 preview</a:t>
                </a:r>
                <a:endParaRPr lang="en-US" sz="950" dirty="0"/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268986" y="3203622"/>
            <a:ext cx="8595360" cy="288000"/>
            <a:chOff x="274320" y="3625596"/>
            <a:chExt cx="8595360" cy="288000"/>
          </a:xfrm>
        </p:grpSpPr>
        <p:sp>
          <p:nvSpPr>
            <p:cNvPr id="75" name="Shape 32"/>
            <p:cNvSpPr/>
            <p:nvPr/>
          </p:nvSpPr>
          <p:spPr>
            <a:xfrm>
              <a:off x="274320" y="3625596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76" name="Shape 33"/>
            <p:cNvSpPr/>
            <p:nvPr/>
          </p:nvSpPr>
          <p:spPr>
            <a:xfrm>
              <a:off x="274320" y="3625596"/>
              <a:ext cx="54864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</p:sp>
        <p:grpSp>
          <p:nvGrpSpPr>
            <p:cNvPr id="77" name="Group 76"/>
            <p:cNvGrpSpPr/>
            <p:nvPr/>
          </p:nvGrpSpPr>
          <p:grpSpPr>
            <a:xfrm>
              <a:off x="438912" y="3625596"/>
              <a:ext cx="8339328" cy="288000"/>
              <a:chOff x="438912" y="3657600"/>
              <a:chExt cx="8339328" cy="288000"/>
            </a:xfrm>
          </p:grpSpPr>
          <p:sp>
            <p:nvSpPr>
              <p:cNvPr id="78" name="Text 34"/>
              <p:cNvSpPr/>
              <p:nvPr/>
            </p:nvSpPr>
            <p:spPr>
              <a:xfrm>
                <a:off x="438912" y="3657600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15:15 – </a:t>
                </a:r>
                <a:r>
                  <a:rPr lang="en-US" sz="950" b="1" dirty="0" smtClean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15:40</a:t>
                </a:r>
                <a:endParaRPr lang="en-US" sz="950" dirty="0"/>
              </a:p>
            </p:txBody>
          </p:sp>
          <p:sp>
            <p:nvSpPr>
              <p:cNvPr id="79" name="Text 35"/>
              <p:cNvSpPr/>
              <p:nvPr/>
            </p:nvSpPr>
            <p:spPr>
              <a:xfrm>
                <a:off x="2084832" y="3657600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5 — PWM &amp; Output Control</a:t>
                </a:r>
                <a:endParaRPr lang="en-US" sz="1050" dirty="0"/>
              </a:p>
            </p:txBody>
          </p:sp>
          <p:sp>
            <p:nvSpPr>
              <p:cNvPr id="80" name="Text 36"/>
              <p:cNvSpPr/>
              <p:nvPr/>
            </p:nvSpPr>
            <p:spPr>
              <a:xfrm>
                <a:off x="5440680" y="3657600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LED brightness, LEDC API, tone generation</a:t>
                </a:r>
                <a:endParaRPr lang="en-US" sz="950" dirty="0"/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268986" y="4324611"/>
            <a:ext cx="8595360" cy="288000"/>
            <a:chOff x="274320" y="3625596"/>
            <a:chExt cx="8595360" cy="288000"/>
          </a:xfrm>
        </p:grpSpPr>
        <p:sp>
          <p:nvSpPr>
            <p:cNvPr id="82" name="Shape 32"/>
            <p:cNvSpPr/>
            <p:nvPr/>
          </p:nvSpPr>
          <p:spPr>
            <a:xfrm>
              <a:off x="274320" y="3625596"/>
              <a:ext cx="859536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83" name="Shape 33"/>
            <p:cNvSpPr/>
            <p:nvPr/>
          </p:nvSpPr>
          <p:spPr>
            <a:xfrm>
              <a:off x="274320" y="3625596"/>
              <a:ext cx="54864" cy="288000"/>
            </a:xfrm>
            <a:prstGeom prst="rect">
              <a:avLst/>
            </a:prstGeom>
            <a:solidFill>
              <a:srgbClr val="EF39BF"/>
            </a:solidFill>
            <a:ln w="12700">
              <a:solidFill>
                <a:srgbClr val="EF39BF"/>
              </a:solidFill>
              <a:prstDash val="solid"/>
            </a:ln>
          </p:spPr>
        </p:sp>
        <p:grpSp>
          <p:nvGrpSpPr>
            <p:cNvPr id="84" name="Group 83"/>
            <p:cNvGrpSpPr/>
            <p:nvPr/>
          </p:nvGrpSpPr>
          <p:grpSpPr>
            <a:xfrm>
              <a:off x="438912" y="3625596"/>
              <a:ext cx="8339328" cy="288000"/>
              <a:chOff x="438912" y="3657600"/>
              <a:chExt cx="8339328" cy="288000"/>
            </a:xfrm>
          </p:grpSpPr>
          <p:sp>
            <p:nvSpPr>
              <p:cNvPr id="85" name="Text 34"/>
              <p:cNvSpPr/>
              <p:nvPr/>
            </p:nvSpPr>
            <p:spPr>
              <a:xfrm>
                <a:off x="438912" y="3657600"/>
                <a:ext cx="15087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b="1" dirty="0" smtClean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16:30 </a:t>
                </a:r>
                <a:r>
                  <a:rPr lang="en-US" sz="950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– </a:t>
                </a:r>
                <a:r>
                  <a:rPr lang="en-US" sz="950" b="1" dirty="0" smtClean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16:45</a:t>
                </a:r>
                <a:endParaRPr lang="en-US" sz="950" dirty="0"/>
              </a:p>
            </p:txBody>
          </p:sp>
          <p:sp>
            <p:nvSpPr>
              <p:cNvPr id="86" name="Text 35"/>
              <p:cNvSpPr/>
              <p:nvPr/>
            </p:nvSpPr>
            <p:spPr>
              <a:xfrm>
                <a:off x="2084832" y="3657600"/>
                <a:ext cx="329184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Module </a:t>
                </a:r>
                <a:r>
                  <a:rPr lang="en-US" sz="1050" b="1" dirty="0" smtClean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8 </a:t>
                </a:r>
                <a:r>
                  <a:rPr lang="en-US" sz="10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</a:t>
                </a:r>
                <a:r>
                  <a:rPr lang="en-US" sz="1050" b="1" dirty="0" smtClean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EEPROM</a:t>
                </a:r>
                <a:endParaRPr lang="en-US" sz="1050" dirty="0"/>
              </a:p>
            </p:txBody>
          </p:sp>
          <p:sp>
            <p:nvSpPr>
              <p:cNvPr id="87" name="Text 36"/>
              <p:cNvSpPr/>
              <p:nvPr/>
            </p:nvSpPr>
            <p:spPr>
              <a:xfrm>
                <a:off x="5440680" y="3657600"/>
                <a:ext cx="333756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i="1" dirty="0" smtClean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Save your data permanently</a:t>
                </a:r>
                <a:endParaRPr lang="en-US" sz="950" dirty="0"/>
              </a:p>
            </p:txBody>
          </p:sp>
        </p:grpSp>
      </p:grpSp>
      <p:pic>
        <p:nvPicPr>
          <p:cNvPr id="89" name="Picture 88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52248" y="2488696"/>
            <a:ext cx="223200" cy="22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EEF9FF"/>
          </a:solidFill>
          <a:ln w="19050">
            <a:solidFill>
              <a:srgbClr val="12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BFFF"/>
                </a:solidFill>
              </a:rPr>
              <a:t>OPENING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Embedded System?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computers hiding inside everything around you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50876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508760"/>
            <a:ext cx="2697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508760"/>
            <a:ext cx="2697480" cy="11704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508760"/>
            <a:ext cx="2697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552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 Brakes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wheel sensor 1000×/sec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50876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508760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508760"/>
            <a:ext cx="2697480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508760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Smartphone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10128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microcontrollers inside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150876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150876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1508760"/>
            <a:ext cx="2697480" cy="11704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50876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93408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Traffic Light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63056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timers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283464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83464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834640"/>
            <a:ext cx="2697480" cy="1170432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283464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🧺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7552" y="2971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Washing Machine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+ motor control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0" y="283464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834640"/>
            <a:ext cx="269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2834640"/>
            <a:ext cx="2697480" cy="11704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834640"/>
            <a:ext cx="269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⌚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840480" y="2971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Smartwatch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310128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+ sensors + power mgmt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53328" y="283464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53328" y="2834640"/>
            <a:ext cx="2697480" cy="5486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53328" y="2834640"/>
            <a:ext cx="2697480" cy="1170432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53328" y="2834640"/>
            <a:ext cx="2697480" cy="5486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693408" y="2971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Thermostat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163056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you'll build today!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7472" y="471830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goal: Understand every layer — from silicon registers to Wi-Fi web servers.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FFF"/>
                </a:solidFill>
              </a:rPr>
              <a:t>DAY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ESP32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•  GPIO  •  PlatformIO  •  Your First Program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EEF9FF"/>
          </a:solidFill>
          <a:ln w="19050">
            <a:solidFill>
              <a:srgbClr val="12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BFFF"/>
                </a:solidFill>
              </a:rPr>
              <a:t>MODULE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chip dominates the IoT and embedded world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4864" cy="68580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14721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Dual-Core Xtensa LX6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7552" y="1783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  —  Core 0: OS/Wi-Fi Stack  |  Core 1: Your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21992"/>
            <a:ext cx="54864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7552" y="2276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2587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 SRAM  •  4 MB Flash  •  8 KB RTC RAM (survives deep sleep)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26664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081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Connectivity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87552" y="33924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802.11 b/g/n  •  Bluetooth 4.2 &amp; BLE — both built-in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31336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31336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7552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Peripherals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7552" y="41970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GPIO  •  12-bit ADC  •  DAC  •  SPI / I2C / UART / I2S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1417320"/>
            <a:ext cx="3182112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1417320"/>
            <a:ext cx="3182112" cy="34747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141732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 vs  Arduino UNO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87568" y="1828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39712" y="1828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54112" y="1828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50992" y="2103120"/>
            <a:ext cx="3090672" cy="27432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21396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39712" y="21396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54112" y="21396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MHz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50992" y="2423160"/>
            <a:ext cx="3090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24597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39712" y="245973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54112" y="245973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50992" y="2743200"/>
            <a:ext cx="3090672" cy="27432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7797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39712" y="27797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54112" y="27797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50992" y="3063240"/>
            <a:ext cx="3090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30998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39712" y="30998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54112" y="30998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50992" y="3383280"/>
            <a:ext cx="3090672" cy="27432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34198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39712" y="34198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754112" y="34198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10-bit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50992" y="3703320"/>
            <a:ext cx="3090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3739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39712" y="37398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950" b="1" dirty="0" smtClean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54112" y="37398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950" dirty="0" smtClean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4718304"/>
            <a:ext cx="8485632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7457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ONLY — GPIO pins are NOT 5V tolerant. Connecting 5V directly causes permanent damage.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EEF9FF"/>
          </a:solidFill>
          <a:ln w="19050">
            <a:solidFill>
              <a:srgbClr val="12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BFFF"/>
                </a:solidFill>
              </a:rPr>
              <a:t>MODULE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GPIO Pinout &amp; PlatformIO Setup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board before writing a single line of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48512"/>
            <a:ext cx="4251960" cy="391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4251960" cy="34747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GPIO Pin Categories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556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0,2,4,5,12–19,21–23,25–27,32–33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197510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— Input &amp; Output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73152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860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34, 35, 36, 39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250545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ONLY — no output capability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1635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0, 2, 5, 12, 15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0358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Strapping pins — affect boot mode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7315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467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32–39  (ADC1)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35661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safe even when Wi-Fi is ON 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7315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8770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4,0,2,15,13,12,14,27,33,32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409651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Touch Pins T0–T9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048512"/>
            <a:ext cx="3950208" cy="391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61872"/>
            <a:ext cx="395020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platformio.ini — Project Config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1664208"/>
            <a:ext cx="38404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1664208"/>
            <a:ext cx="3840480" cy="1920240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[env:esp32dev]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 = espressif32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    = esp32dev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= arduino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monitor_speed = 115200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Add libraries here: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lib_deps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adafruit/DHT sensor library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637788"/>
            <a:ext cx="3840480" cy="304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84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Resistor  =  (3.3V − 2.0V) ÷ 0.010A  =  130Ω  →  use 220Ω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3942588"/>
            <a:ext cx="3840480" cy="102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Exercises: </a:t>
            </a:r>
            <a:endParaRPr lang="en-US" sz="1400" b="1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Hello </a:t>
            </a:r>
            <a:endParaRPr lang="en-US" sz="10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Blink </a:t>
            </a:r>
            <a:endParaRPr lang="en-US" sz="10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INPUT_PULLUP </a:t>
            </a:r>
            <a:endParaRPr lang="en-US" sz="10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Toggles LED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</a:rPr>
              <a:t>DAY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I/O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Interrupts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vs ISR  •  IR Sensor  •  Hardware-Driven Response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MODULE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Polling vs Hardware Interrupts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concept in real-time embedded systems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8795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41879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Polling — The Wrong 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4096512" cy="144475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755648"/>
            <a:ext cx="4096512" cy="1444752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CPU stuck here: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while(digitalRead(IR)==HIGH){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doing NOTHING else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triggerAlert();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552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burns 100% checking a pin that rarely changes.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sensors, serve web pages, or do anything else simultaneously.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353312"/>
            <a:ext cx="418795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353312"/>
            <a:ext cx="418795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3533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Interrupt — The Right 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1755648"/>
            <a:ext cx="4096512" cy="144475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1755648"/>
            <a:ext cx="4096512" cy="1444752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bool flag = false;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onIR()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flag = true; // short ISR!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attachInterrupt(IR, onIR, FALLING);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2312" y="32552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free to do other work. Hardware calls the ISR instantly when event occurs — no polling needed.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718304"/>
            <a:ext cx="8485632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Rules:  IRAM_ATTR  •  Keep it SHORT  •  No Serial.print()  •  No delay()  •  volatile for shared vars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MODULE 2 — EXERCISES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 Exercises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89888"/>
            <a:ext cx="47548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 2.1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 Sensor — Polling First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17007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IR to GPIO 14. Poll in loop, print Object/Clear. Feel how it blocks everything.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2984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298448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389888"/>
            <a:ext cx="47548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898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 2.2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Interrupt-Driven IR + LED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0" y="17007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using attachInterrupt(). volatile bool flag. LED ON for 2s on detection.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615184"/>
            <a:ext cx="84856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615184"/>
            <a:ext cx="8485632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151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</a:t>
            </a:r>
            <a:r>
              <a:rPr lang="en-US" sz="13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 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</a:t>
            </a:r>
            <a:r>
              <a:rPr lang="en-US" sz="13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RPM Counter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41448" y="3246120"/>
            <a:ext cx="292608" cy="2926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18488" y="3566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blinks </a:t>
            </a: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</a:p>
          <a:p>
            <a:pPr marL="0" indent="0" algn="ctr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 interval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17814" y="3246120"/>
            <a:ext cx="292608" cy="2926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3703320" y="3566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beeps </a:t>
            </a: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b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RPM&gt;1000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94180" y="3246120"/>
            <a:ext cx="292608" cy="2926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788152" y="3566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</a:t>
            </a: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‘RPM:X'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43055" y="3255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</a:rPr>
              <a:t>→</a:t>
            </a:r>
          </a:p>
        </p:txBody>
      </p:sp>
      <p:sp>
        <p:nvSpPr>
          <p:cNvPr id="40" name="Text 38"/>
          <p:cNvSpPr/>
          <p:nvPr/>
        </p:nvSpPr>
        <p:spPr>
          <a:xfrm>
            <a:off x="5519421" y="3255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</a:rPr>
              <a:t>→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2829456" y="2654064"/>
            <a:ext cx="288000" cy="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DAY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Bare Metal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Register Programming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 •  Datasheet Reading  •  Direct Hardware Control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MODULE 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Abstraction 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Arduino function is a wrapper — today you go under the hood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4856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64008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71600"/>
            <a:ext cx="84856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71600"/>
            <a:ext cx="64008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29968" y="1426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digitalWrite(GPIO_NUM_2, HIGH);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17373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write in Arduino / PlatformIO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03123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84856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9456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94560"/>
            <a:ext cx="8485632" cy="685800"/>
          </a:xfrm>
          <a:prstGeom prst="rect">
            <a:avLst/>
          </a:prstGeom>
          <a:solidFill>
            <a:srgbClr val="F0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19456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HAL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29968" y="2249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gpio_set_level(GPIO_NUM_2, 1);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29968" y="2560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 Layer by Espressif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28510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84856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17520"/>
            <a:ext cx="6400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017520"/>
            <a:ext cx="84856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17520"/>
            <a:ext cx="6400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OPS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29968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GPIO_OUT_REG |= (1 &lt;&lt; 2);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29968" y="33832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memory-mapped I/O — what you write TODAY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" y="3673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84856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840480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840480"/>
            <a:ext cx="8485632" cy="685800"/>
          </a:xfrm>
          <a:prstGeom prst="rect">
            <a:avLst/>
          </a:prstGeom>
          <a:solidFill>
            <a:srgbClr val="F0F8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840480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895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29968" y="38953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Transistor gate → 3.3V on pin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29968" y="4206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— voltage on the copper trace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485632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6402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this? Safety-critical systems (automotive, medical, aerospace) require understanding every layer beneath your code.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MODULE 3 — BARE METAL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73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Datasheet Reading &amp; Register Exercises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ESP32 Technical Reference Manual — Chapter 4: GPIO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937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4937760" cy="32918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GPIO Registers  (from TRM Chapter 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737360"/>
            <a:ext cx="4864608" cy="301752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7739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GPIO_OUT_REG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17739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0x3FF44004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1773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output value GPIO 0–31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075688"/>
            <a:ext cx="486460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122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GPIO_ENABLE_REG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21122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0x3FF44020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211226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GPIO 0–31 as output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414016"/>
            <a:ext cx="4864608" cy="301752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GPIO_IN_REG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24505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0x3FF44038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03320" y="245059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 state GPIO 0–31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752344"/>
            <a:ext cx="486460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788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GPIO_OUT_W1TS_REG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14600" y="27889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0x3FF44008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03320" y="278892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 → SET specific bits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3090672"/>
            <a:ext cx="4864608" cy="301752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127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GPIO_OUT_W1TC_REG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14600" y="31272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0x3FF4400C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03320" y="31272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 → CLEAR specific bits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547872"/>
            <a:ext cx="4937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547872"/>
            <a:ext cx="493776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47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Your Datasheet Task — Find these answers in TRM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Address of GPIO_OUT_REG?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bit position controls GPIO2?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4805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to enable GPIO2 as output?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Address &amp; bit for GPIO15 input?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68112" y="1353312"/>
            <a:ext cx="33375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353312"/>
            <a:ext cx="333756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135331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3.1 + 3.2 — Fill the Blanks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13832" y="1737360"/>
            <a:ext cx="324612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13832" y="1737360"/>
            <a:ext cx="3246120" cy="3246120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 3.1 — LED Blink (ESP-IDF)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GPIO_OUT_REG 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(*(volatile uint32_t*)0x3FF44004)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GPIO_ENABLE_REG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(*(volatile uint32_t*)0x3FF44020)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app_main(void)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TODO: Enable GPIO2 output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GPIO_ENABLE_REG |= _____;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while(1)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GPIO_OUT_REG |= _____;  // HIGH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vTaskDelay(500/portTICK_MS);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GPIO_OUT_REG &amp;= _____;  // LOW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 3.2 — Button Read (GPIO_IN_REG)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bit 15 WITHOUT digitalRead()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(!((GPIO_IN_REG &gt;&gt; ___) &amp; 1))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button pressed — toggle 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36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LUNCH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3733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•  Back at </a:t>
            </a:r>
            <a:r>
              <a:rPr lang="en-US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 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38653" y="678387"/>
            <a:ext cx="1866693" cy="186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3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DAY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Analog Sensing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ADC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 •  Voltage Divider  •  12-bit Precision  •  Light Zones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MODULE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Analog-to-Digital Conversion (ADC)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world is analog — ESP32's 12-bit ADC bridges the gap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7731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54864" cy="82296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44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12-Bit Resolution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0352" y="1773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0–3.3V in 4096 steps = 0.8mV per 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= 10-bit (1024 steps — 4× less precise)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47731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0008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404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ADC1 vs ADC2 </a:t>
            </a:r>
            <a:r>
              <a:rPr lang="en-US" sz="1250" b="1" dirty="0" smtClean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2734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ADC2 conflicts with Wi-Fi — ALWAYS use ADC1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pins: GPIO 32–39 (ADC1 channels only)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47731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310128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64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Voltage Divider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" y="36941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+ 10kΩ = divider. Bright → LDR low → V rises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 = Vsupply × R_fixed ÷ (R_LDR + R_fixed)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85232" y="1389888"/>
            <a:ext cx="35204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85232" y="1389888"/>
            <a:ext cx="35204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13898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22392" y="1828800"/>
            <a:ext cx="292608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82880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79008" y="1828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LDR + Serial Plotter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79008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GPIO34. Print raw. Use PlatformIO Plotter for live graph.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22392" y="2633472"/>
            <a:ext cx="292608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26334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79008" y="2633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 to Light 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79008" y="2889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map(raw,0,4095,0,100). Print 'Light Level: 73%'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22392" y="3438144"/>
            <a:ext cx="292608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22392" y="343814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79008" y="34381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Mini: Smart Street Light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79008" y="36941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BRIGHT&gt;70%: LEDs off | DIM 30–70%: 1 LED | DARK&lt;30%: all LEDs + buzzer on state change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334256"/>
            <a:ext cx="848563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" y="4334256"/>
            <a:ext cx="8485632" cy="658368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raw = analogRead(34);                           // 0 – 4095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pct = map(raw, 0, 4095, 0, 100);                // 0 – 100%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Serial.printf("Light: %d%% | Raw: %d\n", pct, raw); // print both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DAY 1</a:t>
            </a:r>
            <a:endParaRPr lang="en-US" sz="9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PWM &amp; Output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 API  •  LED Dimming  •  Tone Generation  •  Duty Cycle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6">
                    <a:lumMod val="50000"/>
                  </a:schemeClr>
                </a:solidFill>
              </a:rPr>
              <a:t>MODULE 5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PWM — Pulse Width Modulation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analog output with digital switching — hardware-accurate, zero CPU overhead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3520440" cy="32918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 = ON_time ÷ Period × 100%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69464"/>
            <a:ext cx="384048" cy="3657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384048" cy="786384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2871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97280" y="2400300"/>
            <a:ext cx="384048" cy="20574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1783080"/>
            <a:ext cx="384048" cy="61722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2871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691640" y="2194560"/>
            <a:ext cx="384048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1783080"/>
            <a:ext cx="384048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91640" y="2871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1988820"/>
            <a:ext cx="384048" cy="6172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1783080"/>
            <a:ext cx="384048" cy="20574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286000" y="2871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80360" y="1783080"/>
            <a:ext cx="384048" cy="82296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1783080"/>
            <a:ext cx="384048" cy="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26517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80360" y="2871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041648" y="1353312"/>
            <a:ext cx="4773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41648" y="1353312"/>
            <a:ext cx="4773168" cy="32918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78808" y="135331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LEDC API (PlatformIO / Arduino)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87368" y="1737360"/>
            <a:ext cx="4681728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087368" y="1737360"/>
            <a:ext cx="4681728" cy="1417320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ledcSetup(0, 5000, 8);  // ch, freq Hz, bits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ledcAttachPin(2, 0);    // GPIO, channel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ledcWrite(0, 128);      // ch, duty (0-255)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buzzer tones (same API!):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ledcWriteTone(1, 523);  // ch, frequency Hz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401568"/>
            <a:ext cx="848563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401568"/>
            <a:ext cx="8485632" cy="32918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01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803904"/>
            <a:ext cx="274320" cy="21945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039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" y="38039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Smooth LED Fade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0→255→0 loop, breathing effect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803904"/>
            <a:ext cx="274320" cy="21945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8039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56632" y="38039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Button Brightness Steps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56632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0%→25%→50%→75%→100%→0% each press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398264"/>
            <a:ext cx="2743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398264"/>
            <a:ext cx="274320" cy="21945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" y="4398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Tone Scale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" y="4636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523Hz C5, 659Hz E5, 784Hz G5 — boot jingle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4398264"/>
            <a:ext cx="274320" cy="21945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3982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56632" y="4398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Mini: LDR Auto-Dimmer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56632" y="4636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env = dim LED. Dark = bright. Continuous, no thresholds.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 smtClean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DAY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r>
              <a:rPr lang="en-US" sz="1300" b="1" dirty="0" smtClean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DAC </a:t>
            </a: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Output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 smtClean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Tune Analog Output • 8-bit Resolution • </a:t>
            </a: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Waves • </a:t>
            </a:r>
            <a:r>
              <a:rPr lang="en-US" sz="1500" i="1" dirty="0" smtClean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4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MODULE </a:t>
            </a:r>
            <a:r>
              <a:rPr lang="en-US" sz="850" b="1" dirty="0" smtClean="0">
                <a:solidFill>
                  <a:srgbClr val="7C3AED"/>
                </a:solidFill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DAC — Digital to Analog Converter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ESP32's built-in DAC produces TRUE analog voltage — no switching, no PWM approximation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4160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DAC — Key Facts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4059936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73936"/>
            <a:ext cx="64008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19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00200" y="181965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independent DACs — DAC1 &amp; DAC2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4059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21408"/>
            <a:ext cx="64008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167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216712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DAC1 = GPIO 25   |   DAC2 = GPIO 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4059936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468880"/>
            <a:ext cx="64008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14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00200" y="251460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→ 256 steps  (0 = 0V,  255 = 3.3V)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16352"/>
            <a:ext cx="4059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816352"/>
            <a:ext cx="64008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862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00200" y="286207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÷ 255 ≈ 12.9 mV per step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3375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337560"/>
            <a:ext cx="416052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DAC  vs  PWM — When to Use Which?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6941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19072" y="3694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✅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36941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913632"/>
            <a:ext cx="4059936" cy="2011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319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19072" y="39319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analog voltage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81528" y="39319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pulses (fake analog)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40599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513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19072" y="41513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smooth signal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81528" y="41513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ripple / switching noise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352544"/>
            <a:ext cx="4059936" cy="2011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719072" y="43708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sine waves, sensors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81528" y="43708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dim, motor speed, buzzers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40599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902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Load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19072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hardware peripheral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81528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LEDC hardware timer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4791456"/>
            <a:ext cx="4059936" cy="20116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8097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19072" y="4809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(256 steps)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081528" y="48097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16-bit (65536 steps)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63440" y="1353312"/>
            <a:ext cx="414223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grpSp>
        <p:nvGrpSpPr>
          <p:cNvPr id="62" name="Group 61"/>
          <p:cNvGrpSpPr/>
          <p:nvPr/>
        </p:nvGrpSpPr>
        <p:grpSpPr>
          <a:xfrm>
            <a:off x="4663440" y="1353312"/>
            <a:ext cx="4142232" cy="1810512"/>
            <a:chOff x="4663440" y="1353312"/>
            <a:chExt cx="4142232" cy="1810512"/>
          </a:xfrm>
        </p:grpSpPr>
        <p:sp>
          <p:nvSpPr>
            <p:cNvPr id="53" name="Shape 51"/>
            <p:cNvSpPr/>
            <p:nvPr/>
          </p:nvSpPr>
          <p:spPr>
            <a:xfrm>
              <a:off x="4663440" y="1353312"/>
              <a:ext cx="4142232" cy="32918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4800600" y="1353312"/>
              <a:ext cx="386791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dacWrite() API — Simple &amp; Direct</a:t>
              </a:r>
              <a:endParaRPr lang="en-US" sz="12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4709160" y="1737360"/>
              <a:ext cx="4050792" cy="1426464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127000" dist="38100" dir="8100000" algn="bl" rotWithShape="0">
                <a:srgbClr val="94A3B8">
                  <a:alpha val="18000"/>
                </a:srgbClr>
              </a:outerShdw>
            </a:effectLst>
          </p:spPr>
        </p:sp>
        <p:sp>
          <p:nvSpPr>
            <p:cNvPr id="56" name="Text 54"/>
            <p:cNvSpPr/>
            <p:nvPr/>
          </p:nvSpPr>
          <p:spPr>
            <a:xfrm>
              <a:off x="4709160" y="1737360"/>
              <a:ext cx="4050792" cy="1426464"/>
            </a:xfrm>
            <a:prstGeom prst="rect">
              <a:avLst/>
            </a:prstGeom>
            <a:noFill/>
            <a:ln/>
          </p:spPr>
          <p:txBody>
            <a:bodyPr wrap="square" lIns="1524" tIns="1905" rIns="1905" bIns="127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Basic usage — one line!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dacWrite(25, 128);   // GPIO25 → 1.65V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dacWrite(26, 0);     // GPIO26 → 0.0V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dacWrite(25, 255);   // GPIO25 → 3.3V</a:t>
              </a:r>
              <a:endParaRPr lang="en-US" sz="900" dirty="0"/>
            </a:p>
            <a:p>
              <a:pPr marL="0" indent="0">
                <a:buNone/>
              </a:pP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Sweep (simple analog ramp):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(int v=0; v&lt;=255; v++) {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dacWrite(25, v);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delayMicroseconds(500);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ADE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900" dirty="0"/>
            </a:p>
          </p:txBody>
        </p:sp>
      </p:grpSp>
      <p:sp>
        <p:nvSpPr>
          <p:cNvPr id="57" name="Shape 55"/>
          <p:cNvSpPr/>
          <p:nvPr/>
        </p:nvSpPr>
        <p:spPr>
          <a:xfrm>
            <a:off x="4663440" y="3337560"/>
            <a:ext cx="414223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63440" y="3337560"/>
            <a:ext cx="4142232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33756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Advanced: Sine Wave Generation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09160" y="3703320"/>
            <a:ext cx="4050792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709160" y="3703320"/>
            <a:ext cx="4050792" cy="1280160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&lt;math.h&gt;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 1Hz sine wave centered at 1.65V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i&lt;360;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rad = i * (PI / 180.0);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 = 128 + (int)(127*sin(rad));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dacWrite(25, val); // 0–255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delayMicroseconds(2778); // ~1Hz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5776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 smtClean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</a:rPr>
              <a:t>DAY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r>
              <a:rPr lang="en-US" sz="1300" b="1" dirty="0" smtClean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DHT11 &amp; Sensor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Single-Wire  •  Temperature  •  Humidity  •  Error Handling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MODULE </a:t>
            </a:r>
            <a:r>
              <a:rPr lang="en-US" sz="850" b="1" dirty="0" smtClean="0">
                <a:solidFill>
                  <a:srgbClr val="D97706"/>
                </a:solidFill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796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DHT11 — Sensor Communication Protocols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digitalRead() can't decode a DHT11 — and how libraries solve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3218688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321868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 Landscape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31089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serial, 2 wires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31089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9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5603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High-speed, 4 wires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52928"/>
            <a:ext cx="31089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95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0906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wires, multi-device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310896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19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1-Wire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wire, slow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13632"/>
            <a:ext cx="3108960" cy="4572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502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 ← YOU ARE HERE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1513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1-wire, 40-bit, ~70µs timing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1353312"/>
            <a:ext cx="51023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03320" y="1353312"/>
            <a:ext cx="510235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135331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DHT11 Specs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1755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175564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0–50°C  (±2°C)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0025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00253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20–80%  (±5%)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2249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224942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 reading / second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2496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49631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bits: Humi + Temp + Checksum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03320" y="2889504"/>
            <a:ext cx="5102352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703320" y="2889504"/>
            <a:ext cx="5102352" cy="1572768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platformio.ini → lib_deps = adafruit/DHT sensor library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&lt;DHT.h&gt;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 dht(4, DHT11);   // GPIO4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dht.begin();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 = dht.readTemperature();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 = dht.readHumidity();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(isnan(t) || isnan(h)) { /* handle error! */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hi = dht.computeHeatIndex(t, h, false);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608576"/>
            <a:ext cx="8485632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360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</a:t>
            </a:r>
            <a:r>
              <a:rPr lang="en-US" sz="1050" b="1" dirty="0" smtClean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 + display Temp/Humidity/HeatIndex every 2s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</a:t>
            </a:r>
            <a:r>
              <a:rPr lang="en-US" sz="1050" b="1" dirty="0" smtClean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Mini Project: 3-zone alert  (&lt;20°C BLUE  |  20-35°C GREEN  |  &gt;35°C RED + Buzzer alarm)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39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 smtClean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39BF"/>
                </a:solidFill>
              </a:rPr>
              <a:t>DAY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822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r>
              <a:rPr lang="en-US" sz="1300" b="1" dirty="0" smtClean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EEPROM —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Persistent Memory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Storage  •  Wear Leveling  •  Key-Value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846320"/>
            <a:ext cx="844905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96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solidFill>
            <a:srgbClr val="FDE8F8"/>
          </a:solidFill>
          <a:ln w="19050">
            <a:solidFill>
              <a:srgbClr val="EF39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39BF"/>
                </a:solidFill>
              </a:rPr>
              <a:t>MODULE 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8796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EEPROM — Saving Data That Survives Power Loss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read forever — persists across resets, deep sleep, and power cuts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605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4160520" cy="329184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EEPROM on ESP32?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059936" cy="621792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83080"/>
            <a:ext cx="64008" cy="621792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196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3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 EEPROM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0574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has no physical EEPROM chip — the library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emulates it using a 4 KB region of SPI Flash.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40599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87168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23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Bytes Default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7614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EEPROM.begin(512) — allocates up to 512 bytes.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address stores one byte (0–255).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91256"/>
            <a:ext cx="4059936" cy="621792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91256"/>
            <a:ext cx="6400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2278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Leveling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4655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cells die after ~100,000 write cycles.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writing in tight loops — batch your writes!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895344"/>
            <a:ext cx="40599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95344"/>
            <a:ext cx="64008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31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commit() is Key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4169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EEPROM.write() only changes the RAM buffer.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EEPROM.commit() physically saves to flash.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353312"/>
            <a:ext cx="4142232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353312"/>
            <a:ext cx="4142232" cy="329184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353312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EEPROM API — Read &amp; Write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737360"/>
            <a:ext cx="4050792" cy="16642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1821180"/>
            <a:ext cx="4050792" cy="1664208"/>
          </a:xfrm>
          <a:prstGeom prst="rect">
            <a:avLst/>
          </a:prstGeom>
          <a:noFill/>
          <a:ln/>
        </p:spPr>
        <p:txBody>
          <a:bodyPr wrap="square" lIns="1524" tIns="1905" rIns="1905" bIns="127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&lt;EEPROM.h&gt;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EEPROM.begin(512); // allocate 512 bytes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WRITE ──────────────────────────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EEPROM.write(0, 42);   // addr 0 = 42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EEPROM.put(4, 3.14f);  // float at addr 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EEPROM.commit();       // MUST call this!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READ ───────────────────────────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 = EEPROM.read(0);   // → 42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f;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EEPROM.get(4, f);           // → 3.14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414223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547872"/>
            <a:ext cx="4142232" cy="292608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547872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886200"/>
            <a:ext cx="256032" cy="201168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8862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smtClean="0">
                <a:solidFill>
                  <a:srgbClr val="FFFFFF"/>
                </a:solidFill>
              </a:rPr>
              <a:t>8.1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120640" y="3886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Counter —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76188" y="38862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reboots, store in EEPROM addr 0. Print on start.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4123944"/>
            <a:ext cx="256032" cy="201168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239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smtClean="0">
                <a:solidFill>
                  <a:srgbClr val="FFFFFF"/>
                </a:solidFill>
              </a:rPr>
              <a:t>8.2</a:t>
            </a:r>
          </a:p>
        </p:txBody>
      </p:sp>
      <p:sp>
        <p:nvSpPr>
          <p:cNvPr id="40" name="Text 38"/>
          <p:cNvSpPr/>
          <p:nvPr/>
        </p:nvSpPr>
        <p:spPr>
          <a:xfrm>
            <a:off x="5120640" y="412394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LED State — 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76188" y="41239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toggles LED. Save ON/OFF to EEPROM — persists after reset.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4361688"/>
            <a:ext cx="256032" cy="201168"/>
          </a:xfrm>
          <a:prstGeom prst="rect">
            <a:avLst/>
          </a:prstGeom>
          <a:solidFill>
            <a:srgbClr val="EF39BF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3616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smtClean="0">
                <a:solidFill>
                  <a:srgbClr val="FFFFFF"/>
                </a:solidFill>
              </a:rPr>
              <a:t>8.3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120640" y="4361688"/>
            <a:ext cx="1043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</a:t>
            </a: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—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64580" y="437540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name + threshold float. Read back and print on boot.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4736592"/>
            <a:ext cx="4160520" cy="310896"/>
          </a:xfrm>
          <a:prstGeom prst="rect">
            <a:avLst/>
          </a:prstGeom>
          <a:solidFill>
            <a:srgbClr val="FDE8F8"/>
          </a:solidFill>
          <a:ln w="12700">
            <a:solidFill>
              <a:srgbClr val="EF39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54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3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EEPROM vs Preferences library: For larger data or key-value pairs, use Preferences.h (NVS) instead — more wear-resistant and easier to use.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53006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 — Rapid Fire Quiz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03504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answer on paper — fastest correct team wins 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485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94360" cy="566928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memory address of GPIO_OUT_REG on ESP32?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8485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01368"/>
            <a:ext cx="59436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0136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ADC channel group must you avoid when using Wi-Fi?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459736"/>
            <a:ext cx="8485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59736"/>
            <a:ext cx="59436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5973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volatile keyword mean in the context of an ISR?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8485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18104"/>
            <a:ext cx="59436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1810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2552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is ON for 2ms in a 10ms period — what is the duty cycle?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776472"/>
            <a:ext cx="8485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76472"/>
            <a:ext cx="59436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7647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9136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reason why delay() is dangerous in real embedded systems.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553712"/>
            <a:ext cx="8485632" cy="502920"/>
          </a:xfrm>
          <a:prstGeom prst="rect">
            <a:avLst/>
          </a:prstGeom>
          <a:solidFill>
            <a:srgbClr val="EEF9FF"/>
          </a:solidFill>
          <a:ln w="19050">
            <a:solidFill>
              <a:srgbClr val="12B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8114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Tomorrow: Your ESP32 connects to Wi-Fi. Your phone becomes a remote control.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2542</Words>
  <Application>Microsoft Office PowerPoint</Application>
  <PresentationFormat>On-screen Show (16:9)</PresentationFormat>
  <Paragraphs>529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Embedded Systems Workshop</dc:title>
  <dc:subject>PptxGenJS Presentation</dc:subject>
  <dc:creator>PptxGenJS</dc:creator>
  <cp:lastModifiedBy>PRIYABRATA BASU</cp:lastModifiedBy>
  <cp:revision>34</cp:revision>
  <dcterms:created xsi:type="dcterms:W3CDTF">2026-03-07T08:21:42Z</dcterms:created>
  <dcterms:modified xsi:type="dcterms:W3CDTF">2026-03-13T06:04:09Z</dcterms:modified>
</cp:coreProperties>
</file>